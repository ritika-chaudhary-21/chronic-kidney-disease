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6" r:id="rId1"/>
  </p:sldMasterIdLst>
  <p:notesMasterIdLst>
    <p:notesMasterId r:id="rId9"/>
  </p:notesMasterIdLst>
  <p:sldIdLst>
    <p:sldId id="256" r:id="rId2"/>
    <p:sldId id="257" r:id="rId3"/>
    <p:sldId id="294" r:id="rId4"/>
    <p:sldId id="297" r:id="rId5"/>
    <p:sldId id="299" r:id="rId6"/>
    <p:sldId id="300" r:id="rId7"/>
    <p:sldId id="259" r:id="rId8"/>
  </p:sldIdLst>
  <p:sldSz cx="9144000" cy="5143500" type="screen16x9"/>
  <p:notesSz cx="6858000" cy="9144000"/>
  <p:embeddedFontLst>
    <p:embeddedFont>
      <p:font typeface="Gothic A1" panose="020B0604020202020204" charset="-127"/>
      <p:regular r:id="rId10"/>
      <p:bold r:id="rId11"/>
    </p:embeddedFont>
    <p:embeddedFont>
      <p:font typeface="Gothic A1 Medium" panose="020B0604020202020204" charset="-127"/>
      <p:regular r:id="rId12"/>
      <p:bold r:id="rId13"/>
    </p:embeddedFont>
    <p:embeddedFont>
      <p:font typeface="Alata" panose="020B0604020202020204" charset="0"/>
      <p:regular r:id="rId1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1017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428111B-4F5D-4753-A077-CFCA312E3E9C}">
  <a:tblStyle styleId="{A428111B-4F5D-4753-A077-CFCA312E3E9C}"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2" d="100"/>
          <a:sy n="82" d="100"/>
        </p:scale>
        <p:origin x="82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9" name="Google Shape;249;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2299b58df51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0" name="Google Shape;260;g2299b58df51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2299b58df51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0" name="Google Shape;260;g2299b58df51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512976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2299b58df51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0" name="Google Shape;260;g2299b58df51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515380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g54dda1946d_6_2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0" name="Google Shape;290;g54dda1946d_6_2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1"/>
        </a:solidFill>
        <a:effectLst/>
      </p:bgPr>
    </p:bg>
    <p:spTree>
      <p:nvGrpSpPr>
        <p:cNvPr id="1" name="Shape 8"/>
        <p:cNvGrpSpPr/>
        <p:nvPr/>
      </p:nvGrpSpPr>
      <p:grpSpPr>
        <a:xfrm>
          <a:off x="0" y="0"/>
          <a:ext cx="0" cy="0"/>
          <a:chOff x="0" y="0"/>
          <a:chExt cx="0" cy="0"/>
        </a:xfrm>
      </p:grpSpPr>
      <p:sp>
        <p:nvSpPr>
          <p:cNvPr id="9" name="Google Shape;9;p2"/>
          <p:cNvSpPr/>
          <p:nvPr/>
        </p:nvSpPr>
        <p:spPr>
          <a:xfrm>
            <a:off x="127950" y="112950"/>
            <a:ext cx="8888100" cy="4917600"/>
          </a:xfrm>
          <a:prstGeom prst="roundRect">
            <a:avLst>
              <a:gd name="adj" fmla="val 1227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p2"/>
          <p:cNvSpPr txBox="1">
            <a:spLocks noGrp="1"/>
          </p:cNvSpPr>
          <p:nvPr>
            <p:ph type="ctrTitle"/>
          </p:nvPr>
        </p:nvSpPr>
        <p:spPr>
          <a:xfrm>
            <a:off x="713225" y="722475"/>
            <a:ext cx="5643300" cy="2207400"/>
          </a:xfrm>
          <a:prstGeom prst="rect">
            <a:avLst/>
          </a:prstGeom>
        </p:spPr>
        <p:txBody>
          <a:bodyPr spcFirstLastPara="1" wrap="square" lIns="91425" tIns="91425" rIns="91425" bIns="91425" anchor="t" anchorCtr="0">
            <a:noAutofit/>
          </a:bodyPr>
          <a:lstStyle>
            <a:lvl1pPr lvl="0">
              <a:spcBef>
                <a:spcPts val="0"/>
              </a:spcBef>
              <a:spcAft>
                <a:spcPts val="0"/>
              </a:spcAft>
              <a:buClr>
                <a:srgbClr val="191919"/>
              </a:buClr>
              <a:buSzPts val="5200"/>
              <a:buNone/>
              <a:defRPr sz="44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1" name="Google Shape;11;p2"/>
          <p:cNvSpPr txBox="1">
            <a:spLocks noGrp="1"/>
          </p:cNvSpPr>
          <p:nvPr>
            <p:ph type="subTitle" idx="1"/>
          </p:nvPr>
        </p:nvSpPr>
        <p:spPr>
          <a:xfrm>
            <a:off x="5961888" y="3989826"/>
            <a:ext cx="2469000" cy="658500"/>
          </a:xfrm>
          <a:prstGeom prst="rect">
            <a:avLst/>
          </a:prstGeom>
        </p:spPr>
        <p:txBody>
          <a:bodyPr spcFirstLastPara="1" wrap="square" lIns="91425" tIns="91425" rIns="91425" bIns="91425" anchor="b" anchorCtr="0">
            <a:noAutofit/>
          </a:bodyPr>
          <a:lstStyle>
            <a:lvl1pPr lvl="0" algn="r">
              <a:spcBef>
                <a:spcPts val="0"/>
              </a:spcBef>
              <a:spcAft>
                <a:spcPts val="0"/>
              </a:spcAft>
              <a:buSzPts val="1400"/>
              <a:buNone/>
              <a:defRPr>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6"/>
        <p:cNvGrpSpPr/>
        <p:nvPr/>
      </p:nvGrpSpPr>
      <p:grpSpPr>
        <a:xfrm>
          <a:off x="0" y="0"/>
          <a:ext cx="0" cy="0"/>
          <a:chOff x="0" y="0"/>
          <a:chExt cx="0" cy="0"/>
        </a:xfrm>
      </p:grpSpPr>
      <p:sp>
        <p:nvSpPr>
          <p:cNvPr id="27" name="Google Shape;27;p6"/>
          <p:cNvSpPr/>
          <p:nvPr/>
        </p:nvSpPr>
        <p:spPr>
          <a:xfrm>
            <a:off x="127950" y="112950"/>
            <a:ext cx="8888100" cy="4917600"/>
          </a:xfrm>
          <a:prstGeom prst="roundRect">
            <a:avLst>
              <a:gd name="adj" fmla="val 1227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9" name="Google Shape;29;p6"/>
          <p:cNvSpPr/>
          <p:nvPr/>
        </p:nvSpPr>
        <p:spPr>
          <a:xfrm>
            <a:off x="7995185" y="4355278"/>
            <a:ext cx="841800" cy="547800"/>
          </a:xfrm>
          <a:prstGeom prst="round2DiagRect">
            <a:avLst>
              <a:gd name="adj1" fmla="val 50000"/>
              <a:gd name="adj2" fmla="val 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7"/>
        <p:cNvGrpSpPr/>
        <p:nvPr/>
      </p:nvGrpSpPr>
      <p:grpSpPr>
        <a:xfrm>
          <a:off x="0" y="0"/>
          <a:ext cx="0" cy="0"/>
          <a:chOff x="0" y="0"/>
          <a:chExt cx="0" cy="0"/>
        </a:xfrm>
      </p:grpSpPr>
      <p:sp>
        <p:nvSpPr>
          <p:cNvPr id="38" name="Google Shape;38;p9"/>
          <p:cNvSpPr/>
          <p:nvPr/>
        </p:nvSpPr>
        <p:spPr>
          <a:xfrm>
            <a:off x="127950" y="112950"/>
            <a:ext cx="8888100" cy="4917600"/>
          </a:xfrm>
          <a:prstGeom prst="roundRect">
            <a:avLst>
              <a:gd name="adj" fmla="val 1227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9"/>
          <p:cNvSpPr txBox="1">
            <a:spLocks noGrp="1"/>
          </p:cNvSpPr>
          <p:nvPr>
            <p:ph type="title"/>
          </p:nvPr>
        </p:nvSpPr>
        <p:spPr>
          <a:xfrm>
            <a:off x="5215675" y="975775"/>
            <a:ext cx="3215100" cy="1161300"/>
          </a:xfrm>
          <a:prstGeom prst="rect">
            <a:avLst/>
          </a:prstGeom>
        </p:spPr>
        <p:txBody>
          <a:bodyPr spcFirstLastPara="1" wrap="square" lIns="91425" tIns="91425" rIns="91425" bIns="91425" anchor="b" anchorCtr="0">
            <a:noAutofit/>
          </a:bodyPr>
          <a:lstStyle>
            <a:lvl1pPr lvl="0" algn="r" rtl="0">
              <a:spcBef>
                <a:spcPts val="0"/>
              </a:spcBef>
              <a:spcAft>
                <a:spcPts val="0"/>
              </a:spcAft>
              <a:buSzPts val="3500"/>
              <a:buNone/>
              <a:defRPr sz="60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40" name="Google Shape;40;p9"/>
          <p:cNvSpPr txBox="1">
            <a:spLocks noGrp="1"/>
          </p:cNvSpPr>
          <p:nvPr>
            <p:ph type="subTitle" idx="1"/>
          </p:nvPr>
        </p:nvSpPr>
        <p:spPr>
          <a:xfrm>
            <a:off x="5215950" y="2137200"/>
            <a:ext cx="3215100" cy="9894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48"/>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233"/>
        <p:cNvGrpSpPr/>
        <p:nvPr/>
      </p:nvGrpSpPr>
      <p:grpSpPr>
        <a:xfrm>
          <a:off x="0" y="0"/>
          <a:ext cx="0" cy="0"/>
          <a:chOff x="0" y="0"/>
          <a:chExt cx="0" cy="0"/>
        </a:xfrm>
      </p:grpSpPr>
      <p:sp>
        <p:nvSpPr>
          <p:cNvPr id="234" name="Google Shape;234;p36"/>
          <p:cNvSpPr/>
          <p:nvPr/>
        </p:nvSpPr>
        <p:spPr>
          <a:xfrm>
            <a:off x="713250" y="210000"/>
            <a:ext cx="7717500" cy="4723500"/>
          </a:xfrm>
          <a:prstGeom prst="roundRect">
            <a:avLst>
              <a:gd name="adj" fmla="val 1227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36"/>
          <p:cNvSpPr/>
          <p:nvPr/>
        </p:nvSpPr>
        <p:spPr>
          <a:xfrm>
            <a:off x="8142650" y="215775"/>
            <a:ext cx="1466100" cy="2076900"/>
          </a:xfrm>
          <a:prstGeom prst="round2DiagRect">
            <a:avLst>
              <a:gd name="adj1" fmla="val 50000"/>
              <a:gd name="adj2" fmla="val 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36"/>
          <p:cNvSpPr/>
          <p:nvPr/>
        </p:nvSpPr>
        <p:spPr>
          <a:xfrm rot="5400000">
            <a:off x="1430450" y="3166495"/>
            <a:ext cx="424800" cy="2720400"/>
          </a:xfrm>
          <a:prstGeom prst="round2DiagRect">
            <a:avLst>
              <a:gd name="adj1" fmla="val 50000"/>
              <a:gd name="adj2" fmla="val 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08129272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Alata"/>
              <a:buNone/>
              <a:defRPr sz="3500">
                <a:solidFill>
                  <a:schemeClr val="dk1"/>
                </a:solidFill>
                <a:latin typeface="Alata"/>
                <a:ea typeface="Alata"/>
                <a:cs typeface="Alata"/>
                <a:sym typeface="Alata"/>
              </a:defRPr>
            </a:lvl1pPr>
            <a:lvl2pPr lvl="1" rtl="0">
              <a:spcBef>
                <a:spcPts val="0"/>
              </a:spcBef>
              <a:spcAft>
                <a:spcPts val="0"/>
              </a:spcAft>
              <a:buClr>
                <a:schemeClr val="dk1"/>
              </a:buClr>
              <a:buSzPts val="3500"/>
              <a:buFont typeface="Alata"/>
              <a:buNone/>
              <a:defRPr sz="3500">
                <a:solidFill>
                  <a:schemeClr val="dk1"/>
                </a:solidFill>
                <a:latin typeface="Alata"/>
                <a:ea typeface="Alata"/>
                <a:cs typeface="Alata"/>
                <a:sym typeface="Alata"/>
              </a:defRPr>
            </a:lvl2pPr>
            <a:lvl3pPr lvl="2" rtl="0">
              <a:spcBef>
                <a:spcPts val="0"/>
              </a:spcBef>
              <a:spcAft>
                <a:spcPts val="0"/>
              </a:spcAft>
              <a:buClr>
                <a:schemeClr val="dk1"/>
              </a:buClr>
              <a:buSzPts val="3500"/>
              <a:buFont typeface="Alata"/>
              <a:buNone/>
              <a:defRPr sz="3500">
                <a:solidFill>
                  <a:schemeClr val="dk1"/>
                </a:solidFill>
                <a:latin typeface="Alata"/>
                <a:ea typeface="Alata"/>
                <a:cs typeface="Alata"/>
                <a:sym typeface="Alata"/>
              </a:defRPr>
            </a:lvl3pPr>
            <a:lvl4pPr lvl="3" rtl="0">
              <a:spcBef>
                <a:spcPts val="0"/>
              </a:spcBef>
              <a:spcAft>
                <a:spcPts val="0"/>
              </a:spcAft>
              <a:buClr>
                <a:schemeClr val="dk1"/>
              </a:buClr>
              <a:buSzPts val="3500"/>
              <a:buFont typeface="Alata"/>
              <a:buNone/>
              <a:defRPr sz="3500">
                <a:solidFill>
                  <a:schemeClr val="dk1"/>
                </a:solidFill>
                <a:latin typeface="Alata"/>
                <a:ea typeface="Alata"/>
                <a:cs typeface="Alata"/>
                <a:sym typeface="Alata"/>
              </a:defRPr>
            </a:lvl4pPr>
            <a:lvl5pPr lvl="4" rtl="0">
              <a:spcBef>
                <a:spcPts val="0"/>
              </a:spcBef>
              <a:spcAft>
                <a:spcPts val="0"/>
              </a:spcAft>
              <a:buClr>
                <a:schemeClr val="dk1"/>
              </a:buClr>
              <a:buSzPts val="3500"/>
              <a:buFont typeface="Alata"/>
              <a:buNone/>
              <a:defRPr sz="3500">
                <a:solidFill>
                  <a:schemeClr val="dk1"/>
                </a:solidFill>
                <a:latin typeface="Alata"/>
                <a:ea typeface="Alata"/>
                <a:cs typeface="Alata"/>
                <a:sym typeface="Alata"/>
              </a:defRPr>
            </a:lvl5pPr>
            <a:lvl6pPr lvl="5" rtl="0">
              <a:spcBef>
                <a:spcPts val="0"/>
              </a:spcBef>
              <a:spcAft>
                <a:spcPts val="0"/>
              </a:spcAft>
              <a:buClr>
                <a:schemeClr val="dk1"/>
              </a:buClr>
              <a:buSzPts val="3500"/>
              <a:buFont typeface="Alata"/>
              <a:buNone/>
              <a:defRPr sz="3500">
                <a:solidFill>
                  <a:schemeClr val="dk1"/>
                </a:solidFill>
                <a:latin typeface="Alata"/>
                <a:ea typeface="Alata"/>
                <a:cs typeface="Alata"/>
                <a:sym typeface="Alata"/>
              </a:defRPr>
            </a:lvl6pPr>
            <a:lvl7pPr lvl="6" rtl="0">
              <a:spcBef>
                <a:spcPts val="0"/>
              </a:spcBef>
              <a:spcAft>
                <a:spcPts val="0"/>
              </a:spcAft>
              <a:buClr>
                <a:schemeClr val="dk1"/>
              </a:buClr>
              <a:buSzPts val="3500"/>
              <a:buFont typeface="Alata"/>
              <a:buNone/>
              <a:defRPr sz="3500">
                <a:solidFill>
                  <a:schemeClr val="dk1"/>
                </a:solidFill>
                <a:latin typeface="Alata"/>
                <a:ea typeface="Alata"/>
                <a:cs typeface="Alata"/>
                <a:sym typeface="Alata"/>
              </a:defRPr>
            </a:lvl7pPr>
            <a:lvl8pPr lvl="7" rtl="0">
              <a:spcBef>
                <a:spcPts val="0"/>
              </a:spcBef>
              <a:spcAft>
                <a:spcPts val="0"/>
              </a:spcAft>
              <a:buClr>
                <a:schemeClr val="dk1"/>
              </a:buClr>
              <a:buSzPts val="3500"/>
              <a:buFont typeface="Alata"/>
              <a:buNone/>
              <a:defRPr sz="3500">
                <a:solidFill>
                  <a:schemeClr val="dk1"/>
                </a:solidFill>
                <a:latin typeface="Alata"/>
                <a:ea typeface="Alata"/>
                <a:cs typeface="Alata"/>
                <a:sym typeface="Alata"/>
              </a:defRPr>
            </a:lvl8pPr>
            <a:lvl9pPr lvl="8" rtl="0">
              <a:spcBef>
                <a:spcPts val="0"/>
              </a:spcBef>
              <a:spcAft>
                <a:spcPts val="0"/>
              </a:spcAft>
              <a:buClr>
                <a:schemeClr val="dk1"/>
              </a:buClr>
              <a:buSzPts val="3500"/>
              <a:buFont typeface="Alata"/>
              <a:buNone/>
              <a:defRPr sz="3500">
                <a:solidFill>
                  <a:schemeClr val="dk1"/>
                </a:solidFill>
                <a:latin typeface="Alata"/>
                <a:ea typeface="Alata"/>
                <a:cs typeface="Alata"/>
                <a:sym typeface="Alata"/>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Gothic A1 Medium"/>
              <a:buChar char="●"/>
              <a:defRPr>
                <a:solidFill>
                  <a:schemeClr val="dk1"/>
                </a:solidFill>
                <a:latin typeface="Gothic A1 Medium"/>
                <a:ea typeface="Gothic A1 Medium"/>
                <a:cs typeface="Gothic A1 Medium"/>
                <a:sym typeface="Gothic A1 Medium"/>
              </a:defRPr>
            </a:lvl1pPr>
            <a:lvl2pPr marL="914400" lvl="1" indent="-317500">
              <a:lnSpc>
                <a:spcPct val="115000"/>
              </a:lnSpc>
              <a:spcBef>
                <a:spcPts val="0"/>
              </a:spcBef>
              <a:spcAft>
                <a:spcPts val="0"/>
              </a:spcAft>
              <a:buClr>
                <a:schemeClr val="dk1"/>
              </a:buClr>
              <a:buSzPts val="1400"/>
              <a:buFont typeface="Gothic A1 Medium"/>
              <a:buChar char="○"/>
              <a:defRPr>
                <a:solidFill>
                  <a:schemeClr val="dk1"/>
                </a:solidFill>
                <a:latin typeface="Gothic A1 Medium"/>
                <a:ea typeface="Gothic A1 Medium"/>
                <a:cs typeface="Gothic A1 Medium"/>
                <a:sym typeface="Gothic A1 Medium"/>
              </a:defRPr>
            </a:lvl2pPr>
            <a:lvl3pPr marL="1371600" lvl="2" indent="-317500">
              <a:lnSpc>
                <a:spcPct val="115000"/>
              </a:lnSpc>
              <a:spcBef>
                <a:spcPts val="0"/>
              </a:spcBef>
              <a:spcAft>
                <a:spcPts val="0"/>
              </a:spcAft>
              <a:buClr>
                <a:schemeClr val="dk1"/>
              </a:buClr>
              <a:buSzPts val="1400"/>
              <a:buFont typeface="Gothic A1 Medium"/>
              <a:buChar char="■"/>
              <a:defRPr>
                <a:solidFill>
                  <a:schemeClr val="dk1"/>
                </a:solidFill>
                <a:latin typeface="Gothic A1 Medium"/>
                <a:ea typeface="Gothic A1 Medium"/>
                <a:cs typeface="Gothic A1 Medium"/>
                <a:sym typeface="Gothic A1 Medium"/>
              </a:defRPr>
            </a:lvl3pPr>
            <a:lvl4pPr marL="1828800" lvl="3" indent="-317500">
              <a:lnSpc>
                <a:spcPct val="115000"/>
              </a:lnSpc>
              <a:spcBef>
                <a:spcPts val="0"/>
              </a:spcBef>
              <a:spcAft>
                <a:spcPts val="0"/>
              </a:spcAft>
              <a:buClr>
                <a:schemeClr val="dk1"/>
              </a:buClr>
              <a:buSzPts val="1400"/>
              <a:buFont typeface="Gothic A1 Medium"/>
              <a:buChar char="●"/>
              <a:defRPr>
                <a:solidFill>
                  <a:schemeClr val="dk1"/>
                </a:solidFill>
                <a:latin typeface="Gothic A1 Medium"/>
                <a:ea typeface="Gothic A1 Medium"/>
                <a:cs typeface="Gothic A1 Medium"/>
                <a:sym typeface="Gothic A1 Medium"/>
              </a:defRPr>
            </a:lvl4pPr>
            <a:lvl5pPr marL="2286000" lvl="4" indent="-317500">
              <a:lnSpc>
                <a:spcPct val="115000"/>
              </a:lnSpc>
              <a:spcBef>
                <a:spcPts val="0"/>
              </a:spcBef>
              <a:spcAft>
                <a:spcPts val="0"/>
              </a:spcAft>
              <a:buClr>
                <a:schemeClr val="dk1"/>
              </a:buClr>
              <a:buSzPts val="1400"/>
              <a:buFont typeface="Gothic A1 Medium"/>
              <a:buChar char="○"/>
              <a:defRPr>
                <a:solidFill>
                  <a:schemeClr val="dk1"/>
                </a:solidFill>
                <a:latin typeface="Gothic A1 Medium"/>
                <a:ea typeface="Gothic A1 Medium"/>
                <a:cs typeface="Gothic A1 Medium"/>
                <a:sym typeface="Gothic A1 Medium"/>
              </a:defRPr>
            </a:lvl5pPr>
            <a:lvl6pPr marL="2743200" lvl="5" indent="-317500">
              <a:lnSpc>
                <a:spcPct val="115000"/>
              </a:lnSpc>
              <a:spcBef>
                <a:spcPts val="0"/>
              </a:spcBef>
              <a:spcAft>
                <a:spcPts val="0"/>
              </a:spcAft>
              <a:buClr>
                <a:schemeClr val="dk1"/>
              </a:buClr>
              <a:buSzPts val="1400"/>
              <a:buFont typeface="Gothic A1 Medium"/>
              <a:buChar char="■"/>
              <a:defRPr>
                <a:solidFill>
                  <a:schemeClr val="dk1"/>
                </a:solidFill>
                <a:latin typeface="Gothic A1 Medium"/>
                <a:ea typeface="Gothic A1 Medium"/>
                <a:cs typeface="Gothic A1 Medium"/>
                <a:sym typeface="Gothic A1 Medium"/>
              </a:defRPr>
            </a:lvl6pPr>
            <a:lvl7pPr marL="3200400" lvl="6" indent="-317500">
              <a:lnSpc>
                <a:spcPct val="115000"/>
              </a:lnSpc>
              <a:spcBef>
                <a:spcPts val="0"/>
              </a:spcBef>
              <a:spcAft>
                <a:spcPts val="0"/>
              </a:spcAft>
              <a:buClr>
                <a:schemeClr val="dk1"/>
              </a:buClr>
              <a:buSzPts val="1400"/>
              <a:buFont typeface="Gothic A1 Medium"/>
              <a:buChar char="●"/>
              <a:defRPr>
                <a:solidFill>
                  <a:schemeClr val="dk1"/>
                </a:solidFill>
                <a:latin typeface="Gothic A1 Medium"/>
                <a:ea typeface="Gothic A1 Medium"/>
                <a:cs typeface="Gothic A1 Medium"/>
                <a:sym typeface="Gothic A1 Medium"/>
              </a:defRPr>
            </a:lvl7pPr>
            <a:lvl8pPr marL="3657600" lvl="7" indent="-317500">
              <a:lnSpc>
                <a:spcPct val="115000"/>
              </a:lnSpc>
              <a:spcBef>
                <a:spcPts val="0"/>
              </a:spcBef>
              <a:spcAft>
                <a:spcPts val="0"/>
              </a:spcAft>
              <a:buClr>
                <a:schemeClr val="dk1"/>
              </a:buClr>
              <a:buSzPts val="1400"/>
              <a:buFont typeface="Gothic A1 Medium"/>
              <a:buChar char="○"/>
              <a:defRPr>
                <a:solidFill>
                  <a:schemeClr val="dk1"/>
                </a:solidFill>
                <a:latin typeface="Gothic A1 Medium"/>
                <a:ea typeface="Gothic A1 Medium"/>
                <a:cs typeface="Gothic A1 Medium"/>
                <a:sym typeface="Gothic A1 Medium"/>
              </a:defRPr>
            </a:lvl8pPr>
            <a:lvl9pPr marL="4114800" lvl="8" indent="-317500">
              <a:lnSpc>
                <a:spcPct val="115000"/>
              </a:lnSpc>
              <a:spcBef>
                <a:spcPts val="0"/>
              </a:spcBef>
              <a:spcAft>
                <a:spcPts val="0"/>
              </a:spcAft>
              <a:buClr>
                <a:schemeClr val="dk1"/>
              </a:buClr>
              <a:buSzPts val="1400"/>
              <a:buFont typeface="Gothic A1 Medium"/>
              <a:buChar char="■"/>
              <a:defRPr>
                <a:solidFill>
                  <a:schemeClr val="dk1"/>
                </a:solidFill>
                <a:latin typeface="Gothic A1 Medium"/>
                <a:ea typeface="Gothic A1 Medium"/>
                <a:cs typeface="Gothic A1 Medium"/>
                <a:sym typeface="Gothic A1 Medium"/>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2" r:id="rId2"/>
    <p:sldLayoutId id="2147483655" r:id="rId3"/>
    <p:sldLayoutId id="2147483658" r:id="rId4"/>
    <p:sldLayoutId id="2147483682" r:id="rId5"/>
    <p:sldLayoutId id="2147483687" r:id="rId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hyperlink" Target="http://www.cdkd.org/" TargetMode="External"/><Relationship Id="rId4" Type="http://schemas.openxmlformats.org/officeDocument/2006/relationships/hyperlink" Target="https://drive.google.com/file/d/1_95AxQmwtU10uL2K2QpOYTTjyhEXNMgD/view?usp=drive_link"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www.cdkd.org/" TargetMode="External"/><Relationship Id="rId2" Type="http://schemas.openxmlformats.org/officeDocument/2006/relationships/hyperlink" Target="https://drive.google.com/file/d/1_95AxQmwtU10uL2K2QpOYTTjyhEXNMgD/view?usp=drive_link" TargetMode="Externa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hyperlink" Target="http://www.cdkd.org/" TargetMode="Externa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50"/>
        <p:cNvGrpSpPr/>
        <p:nvPr/>
      </p:nvGrpSpPr>
      <p:grpSpPr>
        <a:xfrm>
          <a:off x="0" y="0"/>
          <a:ext cx="0" cy="0"/>
          <a:chOff x="0" y="0"/>
          <a:chExt cx="0" cy="0"/>
        </a:xfrm>
      </p:grpSpPr>
      <p:sp>
        <p:nvSpPr>
          <p:cNvPr id="251" name="Google Shape;251;p41"/>
          <p:cNvSpPr txBox="1">
            <a:spLocks noGrp="1"/>
          </p:cNvSpPr>
          <p:nvPr>
            <p:ph type="ctrTitle"/>
          </p:nvPr>
        </p:nvSpPr>
        <p:spPr>
          <a:xfrm>
            <a:off x="914400" y="1288158"/>
            <a:ext cx="5894773" cy="116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dirty="0"/>
              <a:t>DTI-1 PRESENTATION</a:t>
            </a:r>
            <a:br>
              <a:rPr lang="en-IN" dirty="0"/>
            </a:br>
            <a:br>
              <a:rPr lang="en-IN" dirty="0"/>
            </a:br>
            <a:endParaRPr sz="2800" dirty="0"/>
          </a:p>
        </p:txBody>
      </p:sp>
      <p:sp>
        <p:nvSpPr>
          <p:cNvPr id="252" name="Google Shape;252;p41"/>
          <p:cNvSpPr txBox="1">
            <a:spLocks noGrp="1"/>
          </p:cNvSpPr>
          <p:nvPr>
            <p:ph type="subTitle" idx="1"/>
          </p:nvPr>
        </p:nvSpPr>
        <p:spPr>
          <a:xfrm>
            <a:off x="1642850" y="2150850"/>
            <a:ext cx="3879542" cy="841800"/>
          </a:xfrm>
          <a:prstGeom prst="rect">
            <a:avLst/>
          </a:prstGeom>
        </p:spPr>
        <p:txBody>
          <a:bodyPr spcFirstLastPara="1" wrap="square" lIns="91425" tIns="91425" rIns="91425" bIns="91425" anchor="b" anchorCtr="0">
            <a:noAutofit/>
          </a:bodyPr>
          <a:lstStyle/>
          <a:p>
            <a:pPr marL="0" indent="0" algn="ctr"/>
            <a:endParaRPr lang="en-IN" sz="2400" dirty="0"/>
          </a:p>
          <a:p>
            <a:pPr marL="0" indent="0" algn="ctr"/>
            <a:endParaRPr lang="en-IN" sz="2400" dirty="0"/>
          </a:p>
          <a:p>
            <a:pPr marL="0" indent="0" algn="ctr"/>
            <a:r>
              <a:rPr lang="en-IN" sz="2400" dirty="0"/>
              <a:t>SUBJECT CODE: DTI-300</a:t>
            </a:r>
          </a:p>
          <a:p>
            <a:pPr marL="0" lvl="0" indent="0" algn="ctr" rtl="0">
              <a:spcBef>
                <a:spcPts val="0"/>
              </a:spcBef>
              <a:spcAft>
                <a:spcPts val="0"/>
              </a:spcAft>
              <a:buNone/>
            </a:pPr>
            <a:endParaRPr dirty="0"/>
          </a:p>
        </p:txBody>
      </p:sp>
      <p:grpSp>
        <p:nvGrpSpPr>
          <p:cNvPr id="253" name="Google Shape;253;p41"/>
          <p:cNvGrpSpPr/>
          <p:nvPr/>
        </p:nvGrpSpPr>
        <p:grpSpPr>
          <a:xfrm>
            <a:off x="584491" y="3425"/>
            <a:ext cx="8163781" cy="4902266"/>
            <a:chOff x="282650" y="0"/>
            <a:chExt cx="8163781" cy="4902266"/>
          </a:xfrm>
        </p:grpSpPr>
        <p:sp>
          <p:nvSpPr>
            <p:cNvPr id="254" name="Google Shape;254;p41"/>
            <p:cNvSpPr/>
            <p:nvPr/>
          </p:nvSpPr>
          <p:spPr>
            <a:xfrm>
              <a:off x="6973157" y="0"/>
              <a:ext cx="1466100" cy="2076900"/>
            </a:xfrm>
            <a:prstGeom prst="round2DiagRect">
              <a:avLst>
                <a:gd name="adj1" fmla="val 50000"/>
                <a:gd name="adj2" fmla="val 0"/>
              </a:avLst>
            </a:prstGeom>
            <a:solidFill>
              <a:srgbClr val="92A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5" name="Google Shape;255;p41"/>
            <p:cNvSpPr/>
            <p:nvPr/>
          </p:nvSpPr>
          <p:spPr>
            <a:xfrm rot="5400000">
              <a:off x="1059650" y="2958866"/>
              <a:ext cx="1166400" cy="2720400"/>
            </a:xfrm>
            <a:prstGeom prst="round2DiagRect">
              <a:avLst>
                <a:gd name="adj1" fmla="val 50000"/>
                <a:gd name="adj2" fmla="val 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41"/>
            <p:cNvSpPr/>
            <p:nvPr/>
          </p:nvSpPr>
          <p:spPr>
            <a:xfrm>
              <a:off x="6964675" y="2180658"/>
              <a:ext cx="1466100" cy="547800"/>
            </a:xfrm>
            <a:prstGeom prst="round2DiagRect">
              <a:avLst>
                <a:gd name="adj1" fmla="val 50000"/>
                <a:gd name="adj2" fmla="val 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41"/>
            <p:cNvSpPr/>
            <p:nvPr/>
          </p:nvSpPr>
          <p:spPr>
            <a:xfrm rot="16200000">
              <a:off x="7751631" y="3116822"/>
              <a:ext cx="841800" cy="547800"/>
            </a:xfrm>
            <a:prstGeom prst="round2DiagRect">
              <a:avLst>
                <a:gd name="adj1" fmla="val 50000"/>
                <a:gd name="adj2" fmla="val 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 name="Picture 3">
            <a:extLst>
              <a:ext uri="{FF2B5EF4-FFF2-40B4-BE49-F238E27FC236}">
                <a16:creationId xmlns:a16="http://schemas.microsoft.com/office/drawing/2014/main" id="{8E969C2F-8822-FC6D-4E1E-8F23FE90128F}"/>
              </a:ext>
            </a:extLst>
          </p:cNvPr>
          <p:cNvPicPr>
            <a:picLocks noChangeAspect="1"/>
          </p:cNvPicPr>
          <p:nvPr/>
        </p:nvPicPr>
        <p:blipFill>
          <a:blip r:embed="rId3"/>
          <a:stretch>
            <a:fillRect/>
          </a:stretch>
        </p:blipFill>
        <p:spPr>
          <a:xfrm>
            <a:off x="504163" y="369033"/>
            <a:ext cx="2277374" cy="55694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42"/>
          <p:cNvSpPr txBox="1">
            <a:spLocks noGrp="1"/>
          </p:cNvSpPr>
          <p:nvPr>
            <p:ph type="title"/>
          </p:nvPr>
        </p:nvSpPr>
        <p:spPr>
          <a:xfrm>
            <a:off x="821965" y="581275"/>
            <a:ext cx="8322035" cy="694646"/>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sz="2400" b="1" u="sng" dirty="0"/>
              <a:t>DETAILS OF THE TEAM AND PROBLEM STATEMENT</a:t>
            </a:r>
            <a:endParaRPr sz="2400" dirty="0"/>
          </a:p>
        </p:txBody>
      </p:sp>
      <p:sp>
        <p:nvSpPr>
          <p:cNvPr id="264" name="Google Shape;264;p42"/>
          <p:cNvSpPr txBox="1"/>
          <p:nvPr/>
        </p:nvSpPr>
        <p:spPr>
          <a:xfrm>
            <a:off x="555892" y="1190754"/>
            <a:ext cx="8170858" cy="2746360"/>
          </a:xfrm>
          <a:prstGeom prst="rect">
            <a:avLst/>
          </a:prstGeom>
          <a:noFill/>
          <a:ln>
            <a:noFill/>
          </a:ln>
        </p:spPr>
        <p:txBody>
          <a:bodyPr spcFirstLastPara="1" wrap="square" lIns="91425" tIns="91425" rIns="0" bIns="91425" anchor="t" anchorCtr="0">
            <a:noAutofit/>
          </a:bodyPr>
          <a:lstStyle/>
          <a:p>
            <a:pPr marL="457200" indent="-457200">
              <a:buFont typeface="Arial" panose="020B0604020202020204" pitchFamily="34" charset="0"/>
              <a:buChar char="•"/>
            </a:pPr>
            <a:r>
              <a:rPr lang="en-IN" sz="1800" b="1" dirty="0">
                <a:solidFill>
                  <a:srgbClr val="7030A0"/>
                </a:solidFill>
              </a:rPr>
              <a:t>PROBLEM STATEMENT – </a:t>
            </a:r>
            <a:r>
              <a:rPr lang="en-IN" sz="1800" dirty="0"/>
              <a:t>Prediction of early onset of chronic kidney disease using ML techniques</a:t>
            </a:r>
          </a:p>
          <a:p>
            <a:pPr marL="457200" indent="-457200">
              <a:buFont typeface="Arial" panose="020B0604020202020204" pitchFamily="34" charset="0"/>
              <a:buChar char="•"/>
            </a:pPr>
            <a:endParaRPr lang="en-IN" sz="1800" dirty="0"/>
          </a:p>
          <a:p>
            <a:pPr marL="457200" indent="-457200">
              <a:buFont typeface="Arial" panose="020B0604020202020204" pitchFamily="34" charset="0"/>
              <a:buChar char="•"/>
            </a:pPr>
            <a:r>
              <a:rPr lang="en-IN" sz="1800" b="1" dirty="0">
                <a:solidFill>
                  <a:srgbClr val="7030A0"/>
                </a:solidFill>
              </a:rPr>
              <a:t>INSTITUTE NAME – </a:t>
            </a:r>
            <a:r>
              <a:rPr lang="en-IN" sz="1800" dirty="0"/>
              <a:t>Manav Rachna International Institute of Research and Studies </a:t>
            </a:r>
          </a:p>
          <a:p>
            <a:pPr marL="457200" indent="-457200">
              <a:buFont typeface="Arial" panose="020B0604020202020204" pitchFamily="34" charset="0"/>
              <a:buChar char="•"/>
            </a:pPr>
            <a:endParaRPr lang="en-IN" sz="1800" dirty="0"/>
          </a:p>
          <a:p>
            <a:pPr marL="457200" indent="-457200">
              <a:buFont typeface="Arial" panose="020B0604020202020204" pitchFamily="34" charset="0"/>
              <a:buChar char="•"/>
            </a:pPr>
            <a:r>
              <a:rPr lang="en-IN" sz="1800" b="1" dirty="0">
                <a:solidFill>
                  <a:srgbClr val="7030A0"/>
                </a:solidFill>
              </a:rPr>
              <a:t>TEAM MENTOR – </a:t>
            </a:r>
            <a:r>
              <a:rPr lang="en-IN" sz="1800" dirty="0"/>
              <a:t>DR. Vineeta Sharma</a:t>
            </a:r>
          </a:p>
          <a:p>
            <a:pPr marL="457200" indent="-457200">
              <a:buFont typeface="Arial" panose="020B0604020202020204" pitchFamily="34" charset="0"/>
              <a:buChar char="•"/>
            </a:pPr>
            <a:endParaRPr lang="en-IN" sz="1800" dirty="0"/>
          </a:p>
          <a:p>
            <a:pPr marL="457200" indent="-457200">
              <a:buFont typeface="Arial" panose="020B0604020202020204" pitchFamily="34" charset="0"/>
              <a:buChar char="•"/>
            </a:pPr>
            <a:r>
              <a:rPr lang="en-IN" sz="1800" b="1" dirty="0">
                <a:solidFill>
                  <a:srgbClr val="7030A0"/>
                </a:solidFill>
              </a:rPr>
              <a:t>TEAM CO MENTOR – </a:t>
            </a:r>
            <a:r>
              <a:rPr lang="en-IN" sz="1800" dirty="0">
                <a:solidFill>
                  <a:schemeClr val="tx1">
                    <a:lumMod val="50000"/>
                  </a:schemeClr>
                </a:solidFill>
              </a:rPr>
              <a:t>DR. Kaushal Shakya</a:t>
            </a:r>
          </a:p>
          <a:p>
            <a:pPr marL="457200" indent="-457200">
              <a:buFont typeface="Arial" panose="020B0604020202020204" pitchFamily="34" charset="0"/>
              <a:buChar char="•"/>
            </a:pPr>
            <a:endParaRPr lang="en-IN" sz="1800" b="1" dirty="0"/>
          </a:p>
          <a:p>
            <a:pPr marL="457200" indent="-457200">
              <a:buFont typeface="Arial" panose="020B0604020202020204" pitchFamily="34" charset="0"/>
              <a:buChar char="•"/>
            </a:pPr>
            <a:r>
              <a:rPr lang="en-IN" sz="1800" b="1" dirty="0">
                <a:solidFill>
                  <a:srgbClr val="7030A0"/>
                </a:solidFill>
              </a:rPr>
              <a:t>THEME- </a:t>
            </a:r>
            <a:r>
              <a:rPr lang="en-IN" sz="1800" dirty="0"/>
              <a:t>DTI Project in healthcare using ML techniques</a:t>
            </a:r>
            <a:endParaRPr lang="en-IN" sz="1800" b="1" dirty="0">
              <a:solidFill>
                <a:srgbClr val="7030A0"/>
              </a:solidFill>
            </a:endParaRPr>
          </a:p>
          <a:p>
            <a:pPr marL="457200" indent="-457200">
              <a:buFont typeface="Arial" panose="020B0604020202020204" pitchFamily="34" charset="0"/>
              <a:buChar char="•"/>
            </a:pPr>
            <a:endParaRPr lang="en-IN" sz="1200" dirty="0"/>
          </a:p>
          <a:p>
            <a:r>
              <a:rPr lang="en-IN" sz="1600" dirty="0"/>
              <a:t>              </a:t>
            </a:r>
          </a:p>
          <a:p>
            <a:pPr marL="0" lvl="0" indent="0" algn="l" rtl="0">
              <a:lnSpc>
                <a:spcPct val="115000"/>
              </a:lnSpc>
              <a:spcBef>
                <a:spcPts val="0"/>
              </a:spcBef>
              <a:spcAft>
                <a:spcPts val="0"/>
              </a:spcAft>
              <a:buNone/>
            </a:pPr>
            <a:endParaRPr sz="1200" dirty="0">
              <a:solidFill>
                <a:schemeClr val="dk1"/>
              </a:solidFill>
              <a:latin typeface="Gothic A1 Medium"/>
              <a:ea typeface="Gothic A1 Medium"/>
              <a:cs typeface="Gothic A1 Medium"/>
              <a:sym typeface="Gothic A1 Medium"/>
            </a:endParaRPr>
          </a:p>
        </p:txBody>
      </p:sp>
      <p:sp>
        <p:nvSpPr>
          <p:cNvPr id="265" name="Google Shape;265;p42"/>
          <p:cNvSpPr txBox="1"/>
          <p:nvPr/>
        </p:nvSpPr>
        <p:spPr>
          <a:xfrm>
            <a:off x="719988" y="4100525"/>
            <a:ext cx="1713300" cy="46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000" b="1" u="sng" dirty="0">
              <a:solidFill>
                <a:schemeClr val="dk1"/>
              </a:solidFill>
              <a:latin typeface="Gothic A1"/>
              <a:ea typeface="Gothic A1"/>
              <a:cs typeface="Gothic A1"/>
              <a:sym typeface="Gothic A1"/>
            </a:endParaRPr>
          </a:p>
        </p:txBody>
      </p:sp>
      <p:sp>
        <p:nvSpPr>
          <p:cNvPr id="266" name="Google Shape;266;p42"/>
          <p:cNvSpPr txBox="1"/>
          <p:nvPr/>
        </p:nvSpPr>
        <p:spPr>
          <a:xfrm>
            <a:off x="6347534" y="4095935"/>
            <a:ext cx="2504734" cy="1047565"/>
          </a:xfrm>
          <a:prstGeom prst="rect">
            <a:avLst/>
          </a:prstGeom>
          <a:noFill/>
          <a:ln>
            <a:noFill/>
          </a:ln>
        </p:spPr>
        <p:txBody>
          <a:bodyPr spcFirstLastPara="1" wrap="square" lIns="91425" tIns="91425" rIns="91425" bIns="91425" anchor="t" anchorCtr="0">
            <a:noAutofit/>
          </a:bodyPr>
          <a:lstStyle/>
          <a:p>
            <a:pPr algn="l"/>
            <a:r>
              <a:rPr lang="en-IN" sz="1000" b="1" dirty="0"/>
              <a:t>TEAM MEMBERS-</a:t>
            </a:r>
          </a:p>
          <a:p>
            <a:pPr marL="285750" indent="-285750" algn="just">
              <a:buFont typeface="Arial" panose="020B0604020202020204" pitchFamily="34" charset="0"/>
              <a:buChar char="•"/>
            </a:pPr>
            <a:r>
              <a:rPr lang="en-IN" sz="1000" dirty="0"/>
              <a:t>SUMI TIWARI </a:t>
            </a:r>
          </a:p>
          <a:p>
            <a:pPr marL="285750" indent="-285750" algn="just">
              <a:buFont typeface="Arial" panose="020B0604020202020204" pitchFamily="34" charset="0"/>
              <a:buChar char="•"/>
            </a:pPr>
            <a:r>
              <a:rPr lang="en-IN" sz="1000" dirty="0"/>
              <a:t>NAZARA PARWEEN</a:t>
            </a:r>
          </a:p>
          <a:p>
            <a:pPr marL="285750" indent="-285750" algn="just">
              <a:buFont typeface="Arial" panose="020B0604020202020204" pitchFamily="34" charset="0"/>
              <a:buChar char="•"/>
            </a:pPr>
            <a:r>
              <a:rPr lang="en-IN" sz="1000" dirty="0"/>
              <a:t>RITIKA CHAUDHARY</a:t>
            </a:r>
          </a:p>
          <a:p>
            <a:pPr marL="285750" indent="-285750" algn="just">
              <a:buFont typeface="Arial" panose="020B0604020202020204" pitchFamily="34" charset="0"/>
              <a:buChar char="•"/>
            </a:pPr>
            <a:r>
              <a:rPr lang="en-IN" sz="1000" dirty="0"/>
              <a:t>TULIKA SHARMA</a:t>
            </a:r>
          </a:p>
          <a:p>
            <a:pPr marL="0" lvl="0" indent="0" algn="l" rtl="0">
              <a:spcBef>
                <a:spcPts val="0"/>
              </a:spcBef>
              <a:spcAft>
                <a:spcPts val="0"/>
              </a:spcAft>
              <a:buNone/>
            </a:pPr>
            <a:endParaRPr sz="1000" b="1" dirty="0">
              <a:solidFill>
                <a:schemeClr val="dk1"/>
              </a:solidFill>
              <a:latin typeface="Gothic A1"/>
              <a:ea typeface="Gothic A1"/>
              <a:cs typeface="Gothic A1"/>
              <a:sym typeface="Gothic A1"/>
            </a:endParaRPr>
          </a:p>
        </p:txBody>
      </p:sp>
      <p:pic>
        <p:nvPicPr>
          <p:cNvPr id="2" name="Picture 1">
            <a:extLst>
              <a:ext uri="{FF2B5EF4-FFF2-40B4-BE49-F238E27FC236}">
                <a16:creationId xmlns:a16="http://schemas.microsoft.com/office/drawing/2014/main" id="{0E716DF5-929B-5AE1-8291-66B82C6C4711}"/>
              </a:ext>
            </a:extLst>
          </p:cNvPr>
          <p:cNvPicPr>
            <a:picLocks noChangeAspect="1"/>
          </p:cNvPicPr>
          <p:nvPr/>
        </p:nvPicPr>
        <p:blipFill>
          <a:blip r:embed="rId3"/>
          <a:stretch>
            <a:fillRect/>
          </a:stretch>
        </p:blipFill>
        <p:spPr>
          <a:xfrm>
            <a:off x="393369" y="202039"/>
            <a:ext cx="1383510" cy="37923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42"/>
          <p:cNvSpPr txBox="1">
            <a:spLocks noGrp="1"/>
          </p:cNvSpPr>
          <p:nvPr>
            <p:ph type="title"/>
          </p:nvPr>
        </p:nvSpPr>
        <p:spPr>
          <a:xfrm>
            <a:off x="357858" y="578629"/>
            <a:ext cx="8322035" cy="694646"/>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sz="2400" b="1" dirty="0"/>
              <a:t>IDEA/LITERATURE DETAILS</a:t>
            </a:r>
            <a:endParaRPr sz="2400" dirty="0"/>
          </a:p>
        </p:txBody>
      </p:sp>
      <p:sp>
        <p:nvSpPr>
          <p:cNvPr id="264" name="Google Shape;264;p42"/>
          <p:cNvSpPr txBox="1"/>
          <p:nvPr/>
        </p:nvSpPr>
        <p:spPr>
          <a:xfrm>
            <a:off x="379513" y="1238181"/>
            <a:ext cx="3533312" cy="3470041"/>
          </a:xfrm>
          <a:prstGeom prst="rect">
            <a:avLst/>
          </a:prstGeom>
          <a:noFill/>
          <a:ln>
            <a:noFill/>
          </a:ln>
        </p:spPr>
        <p:txBody>
          <a:bodyPr spcFirstLastPara="1" wrap="square" lIns="91425" tIns="91425" rIns="0" bIns="91425" anchor="t" anchorCtr="0">
            <a:noAutofit/>
          </a:bodyPr>
          <a:lstStyle/>
          <a:p>
            <a:r>
              <a:rPr lang="en-IN" sz="1200" b="1" dirty="0"/>
              <a:t>IDEA/SOLUTION</a:t>
            </a:r>
          </a:p>
          <a:p>
            <a:endParaRPr lang="en-IN" sz="1200" b="1" dirty="0"/>
          </a:p>
          <a:p>
            <a:pPr marL="285750" indent="-285750">
              <a:buFont typeface="Wingdings" panose="05000000000000000000" pitchFamily="2" charset="2"/>
              <a:buChar char="q"/>
            </a:pPr>
            <a:r>
              <a:rPr lang="en-IN" dirty="0"/>
              <a:t>Chronic kidney disease is a growing global health concern, often diagnosed at an advanced stage, which limits treatment option.</a:t>
            </a:r>
          </a:p>
          <a:p>
            <a:pPr marL="285750" indent="-285750">
              <a:buFont typeface="Wingdings" panose="05000000000000000000" pitchFamily="2" charset="2"/>
              <a:buChar char="q"/>
            </a:pPr>
            <a:endParaRPr lang="en-IN" dirty="0"/>
          </a:p>
          <a:p>
            <a:pPr marL="285750" indent="-285750">
              <a:buFont typeface="Wingdings" panose="05000000000000000000" pitchFamily="2" charset="2"/>
              <a:buChar char="q"/>
            </a:pPr>
            <a:r>
              <a:rPr lang="en-US" dirty="0"/>
              <a:t>Our objectives include developing a user-friendly, accurate app, and validating its effectiveness. We hypothesize that our app will empower users to proactively manage their CKD risks, alleviate healthcare system burdens, and enhance patient outcomes.</a:t>
            </a:r>
          </a:p>
          <a:p>
            <a:pPr marL="285750" indent="-285750">
              <a:buFont typeface="Wingdings" panose="05000000000000000000" pitchFamily="2" charset="2"/>
              <a:buChar char="q"/>
            </a:pPr>
            <a:endParaRPr lang="en-IN" sz="1600" dirty="0"/>
          </a:p>
          <a:p>
            <a:pPr marL="285750" indent="-285750">
              <a:buFont typeface="Wingdings" panose="05000000000000000000" pitchFamily="2" charset="2"/>
              <a:buChar char="q"/>
            </a:pPr>
            <a:endParaRPr lang="en-IN" sz="1600" dirty="0"/>
          </a:p>
          <a:p>
            <a:pPr marL="285750" indent="-285750">
              <a:buFont typeface="Wingdings" panose="05000000000000000000" pitchFamily="2" charset="2"/>
              <a:buChar char="q"/>
            </a:pPr>
            <a:endParaRPr lang="en-IN" sz="1600" dirty="0"/>
          </a:p>
          <a:p>
            <a:pPr marL="285750" indent="-285750">
              <a:buFont typeface="Wingdings" panose="05000000000000000000" pitchFamily="2" charset="2"/>
              <a:buChar char="q"/>
            </a:pPr>
            <a:endParaRPr lang="en-IN" sz="1600" dirty="0"/>
          </a:p>
          <a:p>
            <a:pPr marL="171450" indent="-171450">
              <a:buFont typeface="Wingdings" panose="05000000000000000000" pitchFamily="2" charset="2"/>
              <a:buChar char="q"/>
            </a:pPr>
            <a:endParaRPr lang="en-IN" sz="1200" b="1" dirty="0"/>
          </a:p>
          <a:p>
            <a:pPr marL="457200" indent="-457200">
              <a:buFont typeface="Arial" panose="020B0604020202020204" pitchFamily="34" charset="0"/>
              <a:buChar char="•"/>
            </a:pPr>
            <a:endParaRPr lang="en-IN" sz="1200" dirty="0"/>
          </a:p>
          <a:p>
            <a:r>
              <a:rPr lang="en-IN" sz="1600" dirty="0"/>
              <a:t>              </a:t>
            </a:r>
          </a:p>
          <a:p>
            <a:pPr marL="0" lvl="0" indent="0" algn="l" rtl="0">
              <a:lnSpc>
                <a:spcPct val="115000"/>
              </a:lnSpc>
              <a:spcBef>
                <a:spcPts val="0"/>
              </a:spcBef>
              <a:spcAft>
                <a:spcPts val="0"/>
              </a:spcAft>
              <a:buNone/>
            </a:pPr>
            <a:endParaRPr sz="1200" dirty="0">
              <a:solidFill>
                <a:schemeClr val="dk1"/>
              </a:solidFill>
              <a:latin typeface="Gothic A1 Medium"/>
              <a:ea typeface="Gothic A1 Medium"/>
              <a:cs typeface="Gothic A1 Medium"/>
              <a:sym typeface="Gothic A1 Medium"/>
            </a:endParaRPr>
          </a:p>
        </p:txBody>
      </p:sp>
      <p:sp>
        <p:nvSpPr>
          <p:cNvPr id="265" name="Google Shape;265;p42"/>
          <p:cNvSpPr txBox="1"/>
          <p:nvPr/>
        </p:nvSpPr>
        <p:spPr>
          <a:xfrm>
            <a:off x="719988" y="4100525"/>
            <a:ext cx="1713300" cy="46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000" b="1" u="sng" dirty="0">
              <a:solidFill>
                <a:schemeClr val="dk1"/>
              </a:solidFill>
              <a:latin typeface="Gothic A1"/>
              <a:ea typeface="Gothic A1"/>
              <a:cs typeface="Gothic A1"/>
              <a:sym typeface="Gothic A1"/>
            </a:endParaRPr>
          </a:p>
        </p:txBody>
      </p:sp>
      <p:pic>
        <p:nvPicPr>
          <p:cNvPr id="2" name="Picture 1">
            <a:extLst>
              <a:ext uri="{FF2B5EF4-FFF2-40B4-BE49-F238E27FC236}">
                <a16:creationId xmlns:a16="http://schemas.microsoft.com/office/drawing/2014/main" id="{0E716DF5-929B-5AE1-8291-66B82C6C4711}"/>
              </a:ext>
            </a:extLst>
          </p:cNvPr>
          <p:cNvPicPr>
            <a:picLocks noChangeAspect="1"/>
          </p:cNvPicPr>
          <p:nvPr/>
        </p:nvPicPr>
        <p:blipFill>
          <a:blip r:embed="rId3"/>
          <a:stretch>
            <a:fillRect/>
          </a:stretch>
        </p:blipFill>
        <p:spPr>
          <a:xfrm>
            <a:off x="379513" y="208612"/>
            <a:ext cx="1445289" cy="353452"/>
          </a:xfrm>
          <a:prstGeom prst="rect">
            <a:avLst/>
          </a:prstGeom>
        </p:spPr>
      </p:pic>
      <p:sp>
        <p:nvSpPr>
          <p:cNvPr id="19" name="Rectangle 18">
            <a:extLst>
              <a:ext uri="{FF2B5EF4-FFF2-40B4-BE49-F238E27FC236}">
                <a16:creationId xmlns:a16="http://schemas.microsoft.com/office/drawing/2014/main" id="{08E1C052-5A15-AC10-B694-19D6CD81B308}"/>
              </a:ext>
            </a:extLst>
          </p:cNvPr>
          <p:cNvSpPr/>
          <p:nvPr/>
        </p:nvSpPr>
        <p:spPr>
          <a:xfrm>
            <a:off x="392577" y="1172269"/>
            <a:ext cx="3501284" cy="3504973"/>
          </a:xfrm>
          <a:prstGeom prst="rect">
            <a:avLst/>
          </a:prstGeom>
          <a:noFill/>
          <a:ln>
            <a:solidFill>
              <a:schemeClr val="tx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0C6CA03C-FA44-AC34-C0B0-B2D7B1DE9174}"/>
              </a:ext>
            </a:extLst>
          </p:cNvPr>
          <p:cNvSpPr/>
          <p:nvPr/>
        </p:nvSpPr>
        <p:spPr>
          <a:xfrm>
            <a:off x="4221272" y="287867"/>
            <a:ext cx="3754328" cy="4389375"/>
          </a:xfrm>
          <a:prstGeom prst="rect">
            <a:avLst/>
          </a:prstGeom>
          <a:noFill/>
          <a:ln>
            <a:solidFill>
              <a:schemeClr val="tx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D8D14546-42AB-3D4D-40E7-F640E42BB487}"/>
              </a:ext>
            </a:extLst>
          </p:cNvPr>
          <p:cNvSpPr txBox="1"/>
          <p:nvPr/>
        </p:nvSpPr>
        <p:spPr>
          <a:xfrm>
            <a:off x="4240236" y="319682"/>
            <a:ext cx="3735364" cy="4616648"/>
          </a:xfrm>
          <a:prstGeom prst="rect">
            <a:avLst/>
          </a:prstGeom>
          <a:noFill/>
        </p:spPr>
        <p:txBody>
          <a:bodyPr wrap="square" rtlCol="0">
            <a:spAutoFit/>
          </a:bodyPr>
          <a:lstStyle/>
          <a:p>
            <a:r>
              <a:rPr lang="en-IN" sz="1000" b="1" dirty="0"/>
              <a:t>LITERATURE SURVEY:</a:t>
            </a:r>
          </a:p>
          <a:p>
            <a:endParaRPr lang="en-IN" sz="1000" b="1" dirty="0"/>
          </a:p>
          <a:p>
            <a:pPr marL="171450" indent="-171450">
              <a:buFont typeface="Wingdings" panose="05000000000000000000" pitchFamily="2" charset="2"/>
              <a:buChar char="q"/>
            </a:pPr>
            <a:r>
              <a:rPr lang="en-IN" sz="1200" dirty="0"/>
              <a:t>We have studied about the biomarkers which are responsible for the CKD. Here is the list </a:t>
            </a:r>
          </a:p>
          <a:p>
            <a:r>
              <a:rPr lang="en-IN" sz="1200" dirty="0">
                <a:hlinkClick r:id="rId4"/>
              </a:rPr>
              <a:t>https://drive.google.com/file/d/1_95AxQmwtU10uL2K2QpOYTTjyhEXNMgD/view?usp=drive_link</a:t>
            </a:r>
            <a:endParaRPr lang="en-IN" sz="1200" dirty="0"/>
          </a:p>
          <a:p>
            <a:endParaRPr lang="en-IN" sz="1200" dirty="0"/>
          </a:p>
          <a:p>
            <a:pPr marL="171450" indent="-171450">
              <a:buFont typeface="Wingdings" panose="05000000000000000000" pitchFamily="2" charset="2"/>
              <a:buChar char="q"/>
            </a:pPr>
            <a:r>
              <a:rPr lang="en-US" sz="1200" dirty="0"/>
              <a:t>To apply machine learning technology, we would require the already existing database of patients all around the globe , for more accuracy.</a:t>
            </a:r>
          </a:p>
          <a:p>
            <a:pPr marL="171450" indent="-171450">
              <a:buFont typeface="Wingdings" panose="05000000000000000000" pitchFamily="2" charset="2"/>
              <a:buChar char="q"/>
            </a:pPr>
            <a:endParaRPr lang="en-US" sz="1200" dirty="0"/>
          </a:p>
          <a:p>
            <a:pPr marL="171450" indent="-171450">
              <a:buFont typeface="Wingdings" panose="05000000000000000000" pitchFamily="2" charset="2"/>
              <a:buChar char="q"/>
            </a:pPr>
            <a:r>
              <a:rPr lang="en-US" sz="1200" dirty="0"/>
              <a:t>We will abstract that data and provide it to our machine.</a:t>
            </a:r>
          </a:p>
          <a:p>
            <a:pPr marL="171450" indent="-171450">
              <a:buFont typeface="Wingdings" panose="05000000000000000000" pitchFamily="2" charset="2"/>
              <a:buChar char="q"/>
            </a:pPr>
            <a:endParaRPr lang="en-US" sz="1200" dirty="0"/>
          </a:p>
          <a:p>
            <a:pPr marL="171450" indent="-171450">
              <a:buFont typeface="Wingdings" panose="05000000000000000000" pitchFamily="2" charset="2"/>
              <a:buChar char="q"/>
            </a:pPr>
            <a:r>
              <a:rPr lang="en-US" sz="1200" dirty="0"/>
              <a:t>Going through different research papers , trusted sites and hospitals for database of patients.</a:t>
            </a:r>
          </a:p>
          <a:p>
            <a:pPr marL="171450" indent="-171450">
              <a:buFont typeface="Wingdings" panose="05000000000000000000" pitchFamily="2" charset="2"/>
              <a:buChar char="q"/>
            </a:pPr>
            <a:endParaRPr lang="en-US" sz="1200" dirty="0"/>
          </a:p>
          <a:p>
            <a:pPr marL="171450" indent="-171450">
              <a:buFont typeface="Wingdings" panose="05000000000000000000" pitchFamily="2" charset="2"/>
              <a:buChar char="q"/>
            </a:pPr>
            <a:r>
              <a:rPr lang="en-US" sz="1200" dirty="0"/>
              <a:t>The database we have </a:t>
            </a:r>
            <a:r>
              <a:rPr lang="en-US" sz="1200" dirty="0">
                <a:hlinkClick r:id="rId5"/>
              </a:rPr>
              <a:t>http://www.cdkd.org/</a:t>
            </a:r>
            <a:endParaRPr lang="en-US" sz="1200" dirty="0"/>
          </a:p>
          <a:p>
            <a:pPr marL="171450" indent="-171450">
              <a:buFont typeface="Wingdings" panose="05000000000000000000" pitchFamily="2" charset="2"/>
              <a:buChar char="q"/>
            </a:pPr>
            <a:endParaRPr lang="en-US" sz="1200" dirty="0"/>
          </a:p>
          <a:p>
            <a:pPr marL="171450" indent="-171450">
              <a:buFont typeface="Wingdings" panose="05000000000000000000" pitchFamily="2" charset="2"/>
              <a:buChar char="q"/>
            </a:pPr>
            <a:r>
              <a:rPr lang="en-US" sz="1200" dirty="0"/>
              <a:t>As per our research there is no such platform available across India which facilitates the user with all the features in one platform.</a:t>
            </a:r>
          </a:p>
          <a:p>
            <a:pPr marL="171450" indent="-171450">
              <a:buFont typeface="Wingdings" panose="05000000000000000000" pitchFamily="2" charset="2"/>
              <a:buChar char="q"/>
            </a:pPr>
            <a:endParaRPr lang="en-US" sz="1000" dirty="0"/>
          </a:p>
          <a:p>
            <a:pPr marL="171450" indent="-171450">
              <a:buFont typeface="Wingdings" panose="05000000000000000000" pitchFamily="2" charset="2"/>
              <a:buChar char="q"/>
            </a:pPr>
            <a:endParaRPr lang="en-US" sz="1000" dirty="0"/>
          </a:p>
          <a:p>
            <a:endParaRPr lang="en-IN" dirty="0"/>
          </a:p>
        </p:txBody>
      </p:sp>
    </p:spTree>
    <p:extLst>
      <p:ext uri="{BB962C8B-B14F-4D97-AF65-F5344CB8AC3E}">
        <p14:creationId xmlns:p14="http://schemas.microsoft.com/office/powerpoint/2010/main" val="23414906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42"/>
          <p:cNvSpPr txBox="1">
            <a:spLocks noGrp="1"/>
          </p:cNvSpPr>
          <p:nvPr>
            <p:ph type="title"/>
          </p:nvPr>
        </p:nvSpPr>
        <p:spPr>
          <a:xfrm>
            <a:off x="1824802" y="67597"/>
            <a:ext cx="6220495" cy="60642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2400" b="1" dirty="0"/>
              <a:t>A</a:t>
            </a:r>
            <a:r>
              <a:rPr lang="en-IN" sz="2400" b="1" dirty="0"/>
              <a:t>PPROACH/TECH STACK/FLOWCHART</a:t>
            </a:r>
            <a:endParaRPr sz="2400" dirty="0"/>
          </a:p>
        </p:txBody>
      </p:sp>
      <p:sp>
        <p:nvSpPr>
          <p:cNvPr id="265" name="Google Shape;265;p42"/>
          <p:cNvSpPr txBox="1"/>
          <p:nvPr/>
        </p:nvSpPr>
        <p:spPr>
          <a:xfrm>
            <a:off x="719988" y="4100525"/>
            <a:ext cx="1713300" cy="46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000" b="1" u="sng" dirty="0">
              <a:solidFill>
                <a:schemeClr val="dk1"/>
              </a:solidFill>
              <a:latin typeface="Gothic A1"/>
              <a:ea typeface="Gothic A1"/>
              <a:cs typeface="Gothic A1"/>
              <a:sym typeface="Gothic A1"/>
            </a:endParaRPr>
          </a:p>
        </p:txBody>
      </p:sp>
      <p:sp>
        <p:nvSpPr>
          <p:cNvPr id="266" name="Google Shape;266;p42"/>
          <p:cNvSpPr txBox="1"/>
          <p:nvPr/>
        </p:nvSpPr>
        <p:spPr>
          <a:xfrm>
            <a:off x="4087344" y="3316514"/>
            <a:ext cx="3210100" cy="1392608"/>
          </a:xfrm>
          <a:prstGeom prst="rect">
            <a:avLst/>
          </a:prstGeom>
          <a:noFill/>
          <a:ln>
            <a:noFill/>
          </a:ln>
        </p:spPr>
        <p:txBody>
          <a:bodyPr spcFirstLastPara="1" wrap="square" lIns="91425" tIns="91425" rIns="91425" bIns="91425" anchor="t" anchorCtr="0">
            <a:noAutofit/>
          </a:bodyPr>
          <a:lstStyle/>
          <a:p>
            <a:r>
              <a:rPr lang="en-IN" sz="1200" b="1" dirty="0"/>
              <a:t>TECHNICAL STACK:</a:t>
            </a:r>
          </a:p>
          <a:p>
            <a:endParaRPr lang="en-IN" sz="1000" b="1" dirty="0"/>
          </a:p>
          <a:p>
            <a:pPr marL="171450" indent="-171450">
              <a:buFont typeface="Wingdings" panose="05000000000000000000" pitchFamily="2" charset="2"/>
              <a:buChar char="q"/>
            </a:pPr>
            <a:r>
              <a:rPr lang="en-IN" sz="1000" b="1" dirty="0"/>
              <a:t>Design: </a:t>
            </a:r>
            <a:r>
              <a:rPr lang="en-IN" sz="1000" dirty="0"/>
              <a:t>React Native</a:t>
            </a:r>
            <a:endParaRPr lang="en-IN" sz="1000" b="1" dirty="0"/>
          </a:p>
          <a:p>
            <a:pPr marL="171450" indent="-171450">
              <a:buFont typeface="Wingdings" panose="05000000000000000000" pitchFamily="2" charset="2"/>
              <a:buChar char="q"/>
            </a:pPr>
            <a:endParaRPr lang="en-IN" sz="1000" b="1" dirty="0"/>
          </a:p>
          <a:p>
            <a:pPr marL="171450" indent="-171450">
              <a:buFont typeface="Wingdings" panose="05000000000000000000" pitchFamily="2" charset="2"/>
              <a:buChar char="q"/>
            </a:pPr>
            <a:r>
              <a:rPr lang="en-IN" sz="1000" b="1" dirty="0"/>
              <a:t>Frontend: </a:t>
            </a:r>
            <a:r>
              <a:rPr lang="en-IN" sz="1000" dirty="0"/>
              <a:t>JavaScript, Python , UI libraries</a:t>
            </a:r>
            <a:endParaRPr lang="en-IN" sz="1000" b="1" dirty="0"/>
          </a:p>
          <a:p>
            <a:pPr marL="171450" indent="-171450">
              <a:buFont typeface="Wingdings" panose="05000000000000000000" pitchFamily="2" charset="2"/>
              <a:buChar char="q"/>
            </a:pPr>
            <a:endParaRPr lang="en-IN" sz="1000" b="1" dirty="0"/>
          </a:p>
          <a:p>
            <a:pPr marL="171450" indent="-171450">
              <a:buFont typeface="Wingdings" panose="05000000000000000000" pitchFamily="2" charset="2"/>
              <a:buChar char="q"/>
            </a:pPr>
            <a:r>
              <a:rPr lang="en-IN" sz="1000" b="1" dirty="0"/>
              <a:t>Backend: </a:t>
            </a:r>
            <a:r>
              <a:rPr lang="en-IN" sz="1000" dirty="0"/>
              <a:t>Python, JavaScript, Node.js, MySQL</a:t>
            </a:r>
            <a:endParaRPr lang="en-IN" sz="1000" b="1" dirty="0"/>
          </a:p>
          <a:p>
            <a:pPr marL="171450" indent="-171450">
              <a:buFont typeface="Wingdings" panose="05000000000000000000" pitchFamily="2" charset="2"/>
              <a:buChar char="q"/>
            </a:pPr>
            <a:endParaRPr lang="en-IN" sz="1000" b="1" dirty="0"/>
          </a:p>
          <a:p>
            <a:pPr marL="171450" indent="-171450">
              <a:buFont typeface="Wingdings" panose="05000000000000000000" pitchFamily="2" charset="2"/>
              <a:buChar char="q"/>
            </a:pPr>
            <a:r>
              <a:rPr lang="en-IN" sz="1000" b="1" dirty="0"/>
              <a:t>Infrastructure:</a:t>
            </a:r>
            <a:r>
              <a:rPr lang="en-IN" sz="1000" dirty="0"/>
              <a:t> Google AI Platform, Microsoft </a:t>
            </a:r>
          </a:p>
          <a:p>
            <a:r>
              <a:rPr lang="en-IN" sz="1000" dirty="0"/>
              <a:t>                                Azure.</a:t>
            </a:r>
            <a:endParaRPr lang="en-IN" sz="1000" b="1" dirty="0"/>
          </a:p>
          <a:p>
            <a:pPr marL="171450" indent="-171450">
              <a:buFont typeface="Wingdings" panose="05000000000000000000" pitchFamily="2" charset="2"/>
              <a:buChar char="q"/>
            </a:pPr>
            <a:endParaRPr lang="en-IN" sz="1200" b="1" dirty="0"/>
          </a:p>
          <a:p>
            <a:pPr marL="171450" indent="-171450">
              <a:buFont typeface="Wingdings" panose="05000000000000000000" pitchFamily="2" charset="2"/>
              <a:buChar char="q"/>
            </a:pPr>
            <a:endParaRPr lang="en-IN" sz="1200" b="1" dirty="0"/>
          </a:p>
          <a:p>
            <a:pPr marL="171450" indent="-171450">
              <a:buFont typeface="Wingdings" panose="05000000000000000000" pitchFamily="2" charset="2"/>
              <a:buChar char="q"/>
            </a:pPr>
            <a:endParaRPr lang="en-IN" sz="1000" b="1" dirty="0"/>
          </a:p>
          <a:p>
            <a:pPr marL="171450" indent="-171450">
              <a:buFont typeface="Wingdings" panose="05000000000000000000" pitchFamily="2" charset="2"/>
              <a:buChar char="q"/>
            </a:pPr>
            <a:endParaRPr lang="en-IN" sz="1000" b="1" dirty="0"/>
          </a:p>
          <a:p>
            <a:endParaRPr lang="en-IN" sz="1000" b="1" dirty="0"/>
          </a:p>
          <a:p>
            <a:pPr marL="0" lvl="0" indent="0" algn="l" rtl="0">
              <a:spcBef>
                <a:spcPts val="0"/>
              </a:spcBef>
              <a:spcAft>
                <a:spcPts val="0"/>
              </a:spcAft>
              <a:buNone/>
            </a:pPr>
            <a:endParaRPr sz="1000" b="1" dirty="0">
              <a:solidFill>
                <a:schemeClr val="dk1"/>
              </a:solidFill>
              <a:latin typeface="Gothic A1"/>
              <a:ea typeface="Gothic A1"/>
              <a:cs typeface="Gothic A1"/>
              <a:sym typeface="Gothic A1"/>
            </a:endParaRPr>
          </a:p>
        </p:txBody>
      </p:sp>
      <p:pic>
        <p:nvPicPr>
          <p:cNvPr id="2" name="Picture 1">
            <a:extLst>
              <a:ext uri="{FF2B5EF4-FFF2-40B4-BE49-F238E27FC236}">
                <a16:creationId xmlns:a16="http://schemas.microsoft.com/office/drawing/2014/main" id="{0E716DF5-929B-5AE1-8291-66B82C6C4711}"/>
              </a:ext>
            </a:extLst>
          </p:cNvPr>
          <p:cNvPicPr>
            <a:picLocks noChangeAspect="1"/>
          </p:cNvPicPr>
          <p:nvPr/>
        </p:nvPicPr>
        <p:blipFill>
          <a:blip r:embed="rId3"/>
          <a:stretch>
            <a:fillRect/>
          </a:stretch>
        </p:blipFill>
        <p:spPr>
          <a:xfrm>
            <a:off x="379513" y="208612"/>
            <a:ext cx="1445289" cy="353452"/>
          </a:xfrm>
          <a:prstGeom prst="rect">
            <a:avLst/>
          </a:prstGeom>
        </p:spPr>
      </p:pic>
      <p:sp>
        <p:nvSpPr>
          <p:cNvPr id="3" name="Rectangle: Rounded Corners 2">
            <a:extLst>
              <a:ext uri="{FF2B5EF4-FFF2-40B4-BE49-F238E27FC236}">
                <a16:creationId xmlns:a16="http://schemas.microsoft.com/office/drawing/2014/main" id="{15692DCE-B87E-DB6F-7044-B2C133967FF5}"/>
              </a:ext>
            </a:extLst>
          </p:cNvPr>
          <p:cNvSpPr/>
          <p:nvPr/>
        </p:nvSpPr>
        <p:spPr>
          <a:xfrm>
            <a:off x="3724953" y="627640"/>
            <a:ext cx="1303243" cy="510465"/>
          </a:xfrm>
          <a:prstGeom prst="roundRect">
            <a:avLst/>
          </a:prstGeom>
          <a:solidFill>
            <a:schemeClr val="accent6">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bg2">
                    <a:lumMod val="10000"/>
                  </a:schemeClr>
                </a:solidFill>
              </a:rPr>
              <a:t>MARKET RESEARCH</a:t>
            </a:r>
          </a:p>
        </p:txBody>
      </p:sp>
      <p:sp>
        <p:nvSpPr>
          <p:cNvPr id="9" name="Rectangle 8">
            <a:extLst>
              <a:ext uri="{FF2B5EF4-FFF2-40B4-BE49-F238E27FC236}">
                <a16:creationId xmlns:a16="http://schemas.microsoft.com/office/drawing/2014/main" id="{109C9F9C-D21F-E839-F6D5-82890FEEE60D}"/>
              </a:ext>
            </a:extLst>
          </p:cNvPr>
          <p:cNvSpPr/>
          <p:nvPr/>
        </p:nvSpPr>
        <p:spPr>
          <a:xfrm>
            <a:off x="5598873" y="698965"/>
            <a:ext cx="1285615" cy="371282"/>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bg2">
                    <a:lumMod val="10000"/>
                  </a:schemeClr>
                </a:solidFill>
              </a:rPr>
              <a:t>PROTOTYPE</a:t>
            </a:r>
          </a:p>
        </p:txBody>
      </p:sp>
      <p:sp>
        <p:nvSpPr>
          <p:cNvPr id="16" name="Rectangle: Folded Corner 15">
            <a:extLst>
              <a:ext uri="{FF2B5EF4-FFF2-40B4-BE49-F238E27FC236}">
                <a16:creationId xmlns:a16="http://schemas.microsoft.com/office/drawing/2014/main" id="{4342016B-C355-5E4D-475F-E4A0C67B2376}"/>
              </a:ext>
            </a:extLst>
          </p:cNvPr>
          <p:cNvSpPr/>
          <p:nvPr/>
        </p:nvSpPr>
        <p:spPr>
          <a:xfrm>
            <a:off x="6159662" y="2044440"/>
            <a:ext cx="1885635" cy="1223986"/>
          </a:xfrm>
          <a:prstGeom prst="foldedCorne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600" dirty="0">
              <a:solidFill>
                <a:srgbClr val="002060"/>
              </a:solidFill>
            </a:endParaRPr>
          </a:p>
          <a:p>
            <a:pPr algn="ctr"/>
            <a:r>
              <a:rPr lang="en-IN" sz="1600" dirty="0">
                <a:solidFill>
                  <a:srgbClr val="002060"/>
                </a:solidFill>
              </a:rPr>
              <a:t>FINAL TESTING</a:t>
            </a:r>
          </a:p>
          <a:p>
            <a:pPr algn="ctr"/>
            <a:endParaRPr lang="en-IN" dirty="0">
              <a:solidFill>
                <a:srgbClr val="002060"/>
              </a:solidFill>
            </a:endParaRPr>
          </a:p>
        </p:txBody>
      </p:sp>
      <p:sp>
        <p:nvSpPr>
          <p:cNvPr id="20" name="Rectangle 19">
            <a:extLst>
              <a:ext uri="{FF2B5EF4-FFF2-40B4-BE49-F238E27FC236}">
                <a16:creationId xmlns:a16="http://schemas.microsoft.com/office/drawing/2014/main" id="{444E688F-2FC7-7721-5BA5-BC1BD6A33DEF}"/>
              </a:ext>
            </a:extLst>
          </p:cNvPr>
          <p:cNvSpPr/>
          <p:nvPr/>
        </p:nvSpPr>
        <p:spPr>
          <a:xfrm>
            <a:off x="4087343" y="3331090"/>
            <a:ext cx="3210101" cy="1640406"/>
          </a:xfrm>
          <a:prstGeom prst="rect">
            <a:avLst/>
          </a:prstGeom>
          <a:noFill/>
          <a:ln>
            <a:solidFill>
              <a:schemeClr val="tx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F97B124E-4969-CD33-1BC0-02221EDDE767}"/>
              </a:ext>
            </a:extLst>
          </p:cNvPr>
          <p:cNvSpPr/>
          <p:nvPr/>
        </p:nvSpPr>
        <p:spPr>
          <a:xfrm>
            <a:off x="226546" y="590087"/>
            <a:ext cx="3451382" cy="2331731"/>
          </a:xfrm>
          <a:prstGeom prst="rect">
            <a:avLst/>
          </a:prstGeom>
          <a:noFill/>
          <a:ln>
            <a:solidFill>
              <a:schemeClr val="tx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4F0C8B85-F874-15C4-1663-7AD529780821}"/>
              </a:ext>
            </a:extLst>
          </p:cNvPr>
          <p:cNvSpPr txBox="1"/>
          <p:nvPr/>
        </p:nvSpPr>
        <p:spPr>
          <a:xfrm>
            <a:off x="182429" y="628637"/>
            <a:ext cx="3539616" cy="2192908"/>
          </a:xfrm>
          <a:prstGeom prst="rect">
            <a:avLst/>
          </a:prstGeom>
          <a:noFill/>
        </p:spPr>
        <p:txBody>
          <a:bodyPr wrap="square">
            <a:spAutoFit/>
          </a:bodyPr>
          <a:lstStyle/>
          <a:p>
            <a:r>
              <a:rPr lang="en-IN" sz="1050" b="1" dirty="0"/>
              <a:t>USE CASES:</a:t>
            </a:r>
          </a:p>
          <a:p>
            <a:pPr marL="285750" indent="-285750">
              <a:buFont typeface="Wingdings" panose="05000000000000000000" pitchFamily="2" charset="2"/>
              <a:buChar char="q"/>
            </a:pPr>
            <a:r>
              <a:rPr lang="en-IN" sz="1050" dirty="0"/>
              <a:t>This platform will provide information about the kidney disease, its causes, symptoms and treatment options to help patients better understand their condition.</a:t>
            </a:r>
          </a:p>
          <a:p>
            <a:pPr marL="285750" indent="-285750">
              <a:buFont typeface="Wingdings" panose="05000000000000000000" pitchFamily="2" charset="2"/>
              <a:buChar char="q"/>
            </a:pPr>
            <a:r>
              <a:rPr lang="en-IN" sz="1050" dirty="0"/>
              <a:t>It will also provide required diet and nutrition, proper medication, fitness and exercise plans for CKD patient.</a:t>
            </a:r>
          </a:p>
          <a:p>
            <a:pPr marL="285750" indent="-285750">
              <a:buFont typeface="Wingdings" panose="05000000000000000000" pitchFamily="2" charset="2"/>
              <a:buChar char="q"/>
            </a:pPr>
            <a:r>
              <a:rPr lang="en-IN" sz="1050" dirty="0"/>
              <a:t>Patient will be able to  schedule appointment with the nephrologists and other healthcare professionals</a:t>
            </a:r>
          </a:p>
          <a:p>
            <a:pPr marL="285750" indent="-285750">
              <a:buFont typeface="Wingdings" panose="05000000000000000000" pitchFamily="2" charset="2"/>
              <a:buChar char="q"/>
            </a:pPr>
            <a:r>
              <a:rPr lang="en-IN" sz="1050" dirty="0"/>
              <a:t>Patient will be scheduling appointment with the laboratories for there 100% surety.</a:t>
            </a:r>
          </a:p>
        </p:txBody>
      </p:sp>
      <p:sp>
        <p:nvSpPr>
          <p:cNvPr id="11" name="Rectangle 10">
            <a:extLst>
              <a:ext uri="{FF2B5EF4-FFF2-40B4-BE49-F238E27FC236}">
                <a16:creationId xmlns:a16="http://schemas.microsoft.com/office/drawing/2014/main" id="{86E1A651-F70C-7426-8104-8D62CF65C266}"/>
              </a:ext>
            </a:extLst>
          </p:cNvPr>
          <p:cNvSpPr/>
          <p:nvPr/>
        </p:nvSpPr>
        <p:spPr>
          <a:xfrm>
            <a:off x="214797" y="3068715"/>
            <a:ext cx="3510156" cy="1640406"/>
          </a:xfrm>
          <a:prstGeom prst="rect">
            <a:avLst/>
          </a:prstGeom>
          <a:noFill/>
          <a:ln>
            <a:solidFill>
              <a:schemeClr val="tx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B4ED51F4-3260-A22E-26C1-D51BD99A38B0}"/>
              </a:ext>
            </a:extLst>
          </p:cNvPr>
          <p:cNvSpPr txBox="1"/>
          <p:nvPr/>
        </p:nvSpPr>
        <p:spPr>
          <a:xfrm>
            <a:off x="226546" y="3077905"/>
            <a:ext cx="3439631" cy="1631216"/>
          </a:xfrm>
          <a:prstGeom prst="rect">
            <a:avLst/>
          </a:prstGeom>
          <a:noFill/>
        </p:spPr>
        <p:txBody>
          <a:bodyPr wrap="square">
            <a:spAutoFit/>
          </a:bodyPr>
          <a:lstStyle/>
          <a:p>
            <a:r>
              <a:rPr lang="en-IN" sz="1000" b="1" dirty="0"/>
              <a:t> SHOW STOPPER:</a:t>
            </a:r>
          </a:p>
          <a:p>
            <a:pPr marL="171450" indent="-171450">
              <a:buFont typeface="Wingdings" panose="05000000000000000000" pitchFamily="2" charset="2"/>
              <a:buChar char="q"/>
            </a:pPr>
            <a:r>
              <a:rPr lang="en-IN" sz="1000" dirty="0"/>
              <a:t>This will enable users to schedule Appointments with the healthcare professionals, nephrologists and laboratories, availability of 24/7.</a:t>
            </a:r>
          </a:p>
          <a:p>
            <a:pPr marL="171450" indent="-171450">
              <a:buFont typeface="Wingdings" panose="05000000000000000000" pitchFamily="2" charset="2"/>
              <a:buChar char="q"/>
            </a:pPr>
            <a:endParaRPr lang="en-IN" sz="1000" dirty="0"/>
          </a:p>
          <a:p>
            <a:pPr marL="171450" indent="-171450">
              <a:buFont typeface="Wingdings" panose="05000000000000000000" pitchFamily="2" charset="2"/>
              <a:buChar char="q"/>
            </a:pPr>
            <a:r>
              <a:rPr lang="en-IN" sz="1000" dirty="0"/>
              <a:t>Our platform will allow patients to access their Lab test Results and track changes in their kidney function</a:t>
            </a:r>
          </a:p>
          <a:p>
            <a:pPr marL="171450" indent="-171450">
              <a:buFont typeface="Wingdings" panose="05000000000000000000" pitchFamily="2" charset="2"/>
              <a:buChar char="q"/>
            </a:pPr>
            <a:endParaRPr lang="en-IN" sz="1000" dirty="0"/>
          </a:p>
          <a:p>
            <a:pPr marL="171450" indent="-171450">
              <a:buFont typeface="Wingdings" panose="05000000000000000000" pitchFamily="2" charset="2"/>
              <a:buChar char="q"/>
            </a:pPr>
            <a:r>
              <a:rPr lang="en-IN" sz="1000" dirty="0"/>
              <a:t>Our platform allows an individual to connect with other people going through similar experience..</a:t>
            </a:r>
          </a:p>
        </p:txBody>
      </p:sp>
      <p:sp>
        <p:nvSpPr>
          <p:cNvPr id="22" name="Flowchart: Decision 21">
            <a:extLst>
              <a:ext uri="{FF2B5EF4-FFF2-40B4-BE49-F238E27FC236}">
                <a16:creationId xmlns:a16="http://schemas.microsoft.com/office/drawing/2014/main" id="{4F5A6A25-BFC6-5F09-9ADF-E3D87057791D}"/>
              </a:ext>
            </a:extLst>
          </p:cNvPr>
          <p:cNvSpPr/>
          <p:nvPr/>
        </p:nvSpPr>
        <p:spPr>
          <a:xfrm>
            <a:off x="7472143" y="250951"/>
            <a:ext cx="1539495" cy="1447667"/>
          </a:xfrm>
          <a:prstGeom prst="flowChartDecision">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TextBox 22">
            <a:extLst>
              <a:ext uri="{FF2B5EF4-FFF2-40B4-BE49-F238E27FC236}">
                <a16:creationId xmlns:a16="http://schemas.microsoft.com/office/drawing/2014/main" id="{E9616668-F58A-4866-FD58-886E0CDEAFDB}"/>
              </a:ext>
            </a:extLst>
          </p:cNvPr>
          <p:cNvSpPr txBox="1"/>
          <p:nvPr/>
        </p:nvSpPr>
        <p:spPr>
          <a:xfrm>
            <a:off x="7471340" y="808637"/>
            <a:ext cx="1595492" cy="523220"/>
          </a:xfrm>
          <a:prstGeom prst="rect">
            <a:avLst/>
          </a:prstGeom>
          <a:noFill/>
        </p:spPr>
        <p:txBody>
          <a:bodyPr wrap="square" rtlCol="0">
            <a:spAutoFit/>
          </a:bodyPr>
          <a:lstStyle/>
          <a:p>
            <a:r>
              <a:rPr lang="en-US" dirty="0">
                <a:solidFill>
                  <a:schemeClr val="tx1">
                    <a:lumMod val="50000"/>
                  </a:schemeClr>
                </a:solidFill>
              </a:rPr>
              <a:t>DEVELOPMENT</a:t>
            </a:r>
            <a:endParaRPr lang="en-IN" dirty="0">
              <a:solidFill>
                <a:schemeClr val="tx1">
                  <a:lumMod val="50000"/>
                </a:schemeClr>
              </a:solidFill>
            </a:endParaRPr>
          </a:p>
          <a:p>
            <a:endParaRPr lang="en-IN" dirty="0"/>
          </a:p>
        </p:txBody>
      </p:sp>
      <p:cxnSp>
        <p:nvCxnSpPr>
          <p:cNvPr id="25" name="Straight Connector 24">
            <a:extLst>
              <a:ext uri="{FF2B5EF4-FFF2-40B4-BE49-F238E27FC236}">
                <a16:creationId xmlns:a16="http://schemas.microsoft.com/office/drawing/2014/main" id="{1B541DCD-4065-15EA-5D6A-71176616DB04}"/>
              </a:ext>
            </a:extLst>
          </p:cNvPr>
          <p:cNvCxnSpPr>
            <a:cxnSpLocks/>
          </p:cNvCxnSpPr>
          <p:nvPr/>
        </p:nvCxnSpPr>
        <p:spPr>
          <a:xfrm>
            <a:off x="8567431" y="1532444"/>
            <a:ext cx="8398" cy="1059836"/>
          </a:xfrm>
          <a:prstGeom prst="line">
            <a:avLst/>
          </a:prstGeom>
        </p:spPr>
        <p:style>
          <a:lnRef idx="1">
            <a:schemeClr val="dk1"/>
          </a:lnRef>
          <a:fillRef idx="0">
            <a:schemeClr val="dk1"/>
          </a:fillRef>
          <a:effectRef idx="0">
            <a:schemeClr val="dk1"/>
          </a:effectRef>
          <a:fontRef idx="minor">
            <a:schemeClr val="tx1"/>
          </a:fontRef>
        </p:style>
      </p:cxnSp>
      <p:cxnSp>
        <p:nvCxnSpPr>
          <p:cNvPr id="27" name="Straight Arrow Connector 26">
            <a:extLst>
              <a:ext uri="{FF2B5EF4-FFF2-40B4-BE49-F238E27FC236}">
                <a16:creationId xmlns:a16="http://schemas.microsoft.com/office/drawing/2014/main" id="{2A9D3F44-80D1-9D62-7F1F-01F69D62F372}"/>
              </a:ext>
            </a:extLst>
          </p:cNvPr>
          <p:cNvCxnSpPr>
            <a:cxnSpLocks/>
          </p:cNvCxnSpPr>
          <p:nvPr/>
        </p:nvCxnSpPr>
        <p:spPr>
          <a:xfrm flipH="1">
            <a:off x="8107441" y="2588349"/>
            <a:ext cx="45999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3" name="Straight Arrow Connector 32">
            <a:extLst>
              <a:ext uri="{FF2B5EF4-FFF2-40B4-BE49-F238E27FC236}">
                <a16:creationId xmlns:a16="http://schemas.microsoft.com/office/drawing/2014/main" id="{145C2264-F04B-4219-0452-C74854BCE42C}"/>
              </a:ext>
            </a:extLst>
          </p:cNvPr>
          <p:cNvCxnSpPr>
            <a:cxnSpLocks/>
          </p:cNvCxnSpPr>
          <p:nvPr/>
        </p:nvCxnSpPr>
        <p:spPr>
          <a:xfrm flipH="1">
            <a:off x="5616695" y="2571750"/>
            <a:ext cx="44822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5" name="Straight Arrow Connector 34">
            <a:extLst>
              <a:ext uri="{FF2B5EF4-FFF2-40B4-BE49-F238E27FC236}">
                <a16:creationId xmlns:a16="http://schemas.microsoft.com/office/drawing/2014/main" id="{1305E412-6190-B620-9DC1-53CE3BA0E7E1}"/>
              </a:ext>
            </a:extLst>
          </p:cNvPr>
          <p:cNvCxnSpPr>
            <a:cxnSpLocks/>
          </p:cNvCxnSpPr>
          <p:nvPr/>
        </p:nvCxnSpPr>
        <p:spPr>
          <a:xfrm>
            <a:off x="6996570" y="885585"/>
            <a:ext cx="47477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8" name="Straight Arrow Connector 37">
            <a:extLst>
              <a:ext uri="{FF2B5EF4-FFF2-40B4-BE49-F238E27FC236}">
                <a16:creationId xmlns:a16="http://schemas.microsoft.com/office/drawing/2014/main" id="{D313BF5A-A810-1E34-AF84-208630E250A5}"/>
              </a:ext>
            </a:extLst>
          </p:cNvPr>
          <p:cNvCxnSpPr>
            <a:cxnSpLocks/>
          </p:cNvCxnSpPr>
          <p:nvPr/>
        </p:nvCxnSpPr>
        <p:spPr>
          <a:xfrm>
            <a:off x="5068958" y="884606"/>
            <a:ext cx="43428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2" name="Diamond 41">
            <a:extLst>
              <a:ext uri="{FF2B5EF4-FFF2-40B4-BE49-F238E27FC236}">
                <a16:creationId xmlns:a16="http://schemas.microsoft.com/office/drawing/2014/main" id="{7868F8DF-DCF6-7DDB-3100-50241411B65C}"/>
              </a:ext>
            </a:extLst>
          </p:cNvPr>
          <p:cNvSpPr/>
          <p:nvPr/>
        </p:nvSpPr>
        <p:spPr>
          <a:xfrm>
            <a:off x="3756254" y="2200980"/>
            <a:ext cx="1860441" cy="606420"/>
          </a:xfrm>
          <a:prstGeom prst="diamond">
            <a:avLst/>
          </a:prstGeom>
          <a:solidFill>
            <a:schemeClr val="accent3">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50000"/>
                  </a:schemeClr>
                </a:solidFill>
              </a:rPr>
              <a:t>LAUNCH</a:t>
            </a:r>
            <a:endParaRPr lang="en-IN" dirty="0">
              <a:solidFill>
                <a:schemeClr val="tx1">
                  <a:lumMod val="50000"/>
                </a:schemeClr>
              </a:solidFill>
            </a:endParaRPr>
          </a:p>
        </p:txBody>
      </p:sp>
    </p:spTree>
    <p:extLst>
      <p:ext uri="{BB962C8B-B14F-4D97-AF65-F5344CB8AC3E}">
        <p14:creationId xmlns:p14="http://schemas.microsoft.com/office/powerpoint/2010/main" val="9435124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1">
            <a:extLst>
              <a:ext uri="{FF2B5EF4-FFF2-40B4-BE49-F238E27FC236}">
                <a16:creationId xmlns:a16="http://schemas.microsoft.com/office/drawing/2014/main" id="{A59BC6D6-82DD-E2BB-754D-76686AEDE60E}"/>
              </a:ext>
            </a:extLst>
          </p:cNvPr>
          <p:cNvSpPr>
            <a:spLocks noChangeArrowheads="1"/>
          </p:cNvSpPr>
          <p:nvPr/>
        </p:nvSpPr>
        <p:spPr bwMode="auto">
          <a:xfrm>
            <a:off x="3183599" y="447527"/>
            <a:ext cx="2771457" cy="4070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just">
              <a:lnSpc>
                <a:spcPts val="656"/>
              </a:lnSpc>
              <a:spcAft>
                <a:spcPts val="403"/>
              </a:spcAft>
            </a:pPr>
            <a:endParaRPr lang="en-US" altLang="en-US" sz="529" u="sng" dirty="0">
              <a:solidFill>
                <a:srgbClr val="0563C1"/>
              </a:solidFill>
              <a:latin typeface="Times New Roman" panose="02020603050405020304" pitchFamily="18" charset="0"/>
              <a:hlinkClick r:id="rId2"/>
            </a:endParaRPr>
          </a:p>
        </p:txBody>
      </p:sp>
      <p:sp>
        <p:nvSpPr>
          <p:cNvPr id="4099" name="Rectangle 2">
            <a:extLst>
              <a:ext uri="{FF2B5EF4-FFF2-40B4-BE49-F238E27FC236}">
                <a16:creationId xmlns:a16="http://schemas.microsoft.com/office/drawing/2014/main" id="{91F1985C-5364-3460-6CB2-D6BFDA0F271B}"/>
              </a:ext>
            </a:extLst>
          </p:cNvPr>
          <p:cNvSpPr>
            <a:spLocks noChangeArrowheads="1"/>
          </p:cNvSpPr>
          <p:nvPr/>
        </p:nvSpPr>
        <p:spPr bwMode="auto">
          <a:xfrm>
            <a:off x="92990" y="116237"/>
            <a:ext cx="8973518" cy="4912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just">
              <a:spcBef>
                <a:spcPts val="505"/>
              </a:spcBef>
              <a:spcAft>
                <a:spcPts val="505"/>
              </a:spcAft>
            </a:pPr>
            <a:r>
              <a:rPr lang="en-US" altLang="en-US" sz="1150" b="1" dirty="0">
                <a:latin typeface="Times New Roman" panose="02020603050405020304" pitchFamily="18" charset="0"/>
              </a:rPr>
              <a:t>Machine Learning Approach</a:t>
            </a:r>
          </a:p>
          <a:p>
            <a:pPr algn="just">
              <a:spcAft>
                <a:spcPts val="505"/>
              </a:spcAft>
            </a:pPr>
            <a:r>
              <a:rPr lang="en-US" altLang="en-US" sz="1150" dirty="0">
                <a:latin typeface="Times New Roman" panose="02020603050405020304" pitchFamily="18" charset="0"/>
              </a:rPr>
              <a:t>The application of machine learning technology for CKD prediction and management is a cornerstone of this project. A literature survey has been conducted to understand existing methodologies, algorithms, and models employed in the realm of CKD research. This involved a systematic review of scientific literature, research papers, and relevant conference proceedings.</a:t>
            </a:r>
          </a:p>
          <a:p>
            <a:pPr algn="just">
              <a:spcAft>
                <a:spcPts val="505"/>
              </a:spcAft>
            </a:pPr>
            <a:r>
              <a:rPr lang="en-US" altLang="en-US" sz="1150" b="1" dirty="0">
                <a:latin typeface="Times New Roman" panose="02020603050405020304" pitchFamily="18" charset="0"/>
              </a:rPr>
              <a:t>Importance of Machine Learning</a:t>
            </a:r>
          </a:p>
          <a:p>
            <a:pPr algn="just">
              <a:spcAft>
                <a:spcPts val="505"/>
              </a:spcAft>
            </a:pPr>
            <a:r>
              <a:rPr lang="en-US" altLang="en-US" sz="1150" dirty="0">
                <a:latin typeface="Times New Roman" panose="02020603050405020304" pitchFamily="18" charset="0"/>
              </a:rPr>
              <a:t>Machine learning provides a data-driven approach to CKD prediction, leveraging patterns and relationships within large datasets to enhance diagnostic accuracy. By training models on diverse and representative patient data, the goal is to develop a predictive tool that adapts and evolves based on real-world insights.</a:t>
            </a:r>
          </a:p>
          <a:p>
            <a:pPr algn="just">
              <a:spcAft>
                <a:spcPts val="505"/>
              </a:spcAft>
            </a:pPr>
            <a:r>
              <a:rPr lang="en-US" altLang="en-US" sz="1150" b="1" dirty="0">
                <a:latin typeface="Times New Roman" panose="02020603050405020304" pitchFamily="18" charset="0"/>
              </a:rPr>
              <a:t>Existing Databases</a:t>
            </a:r>
          </a:p>
          <a:p>
            <a:pPr algn="just">
              <a:spcAft>
                <a:spcPts val="505"/>
              </a:spcAft>
            </a:pPr>
            <a:r>
              <a:rPr lang="en-US" altLang="en-US" sz="1150" dirty="0">
                <a:latin typeface="Times New Roman" panose="02020603050405020304" pitchFamily="18" charset="0"/>
              </a:rPr>
              <a:t>Access to comprehensive and diverse patient databases is crucial to apply machine learning effectively. The literature survey has identified reputable sources, including </a:t>
            </a:r>
            <a:r>
              <a:rPr lang="en-US" altLang="en-US" sz="1150" u="sng" dirty="0">
                <a:latin typeface="Times New Roman" panose="02020603050405020304" pitchFamily="18" charset="0"/>
                <a:hlinkClick r:id="rId3"/>
              </a:rPr>
              <a:t>[</a:t>
            </a:r>
            <a:r>
              <a:rPr lang="en-US" altLang="en-US" sz="1150" u="sng" dirty="0">
                <a:solidFill>
                  <a:srgbClr val="0563C1"/>
                </a:solidFill>
                <a:latin typeface="Times New Roman" panose="02020603050405020304" pitchFamily="18" charset="0"/>
                <a:hlinkClick r:id="rId3"/>
              </a:rPr>
              <a:t>http://www.cdkd.org/</a:t>
            </a:r>
            <a:r>
              <a:rPr lang="en-US" altLang="en-US" sz="1150" u="sng" dirty="0">
                <a:latin typeface="Times New Roman" panose="02020603050405020304" pitchFamily="18" charset="0"/>
                <a:hlinkClick r:id="rId3"/>
              </a:rPr>
              <a:t>]</a:t>
            </a:r>
            <a:r>
              <a:rPr lang="en-US" altLang="en-US" sz="1150" dirty="0">
                <a:latin typeface="Times New Roman" panose="02020603050405020304" pitchFamily="18" charset="0"/>
              </a:rPr>
              <a:t>, and explored collaborations with hospitals, research institutions, and trusted online platforms. The aim is to ensure the diversity and representativeness of the dataset, thus enhancing the accuracy and generalizability of the predictive models.</a:t>
            </a:r>
          </a:p>
          <a:p>
            <a:pPr algn="just"/>
            <a:r>
              <a:rPr lang="en-US" altLang="en-US" sz="1150" b="1" dirty="0">
                <a:latin typeface="Times New Roman" panose="02020603050405020304" pitchFamily="18" charset="0"/>
              </a:rPr>
              <a:t>Research Gap</a:t>
            </a:r>
          </a:p>
          <a:p>
            <a:pPr algn="just"/>
            <a:r>
              <a:rPr lang="en-US" altLang="en-US" sz="1150" b="1" dirty="0">
                <a:latin typeface="Times New Roman" panose="02020603050405020304" pitchFamily="18" charset="0"/>
              </a:rPr>
              <a:t>Platform Uniqueness</a:t>
            </a:r>
          </a:p>
          <a:p>
            <a:pPr algn="just">
              <a:spcAft>
                <a:spcPts val="505"/>
              </a:spcAft>
            </a:pPr>
            <a:r>
              <a:rPr lang="en-US" altLang="en-US" sz="1150" dirty="0">
                <a:latin typeface="Times New Roman" panose="02020603050405020304" pitchFamily="18" charset="0"/>
              </a:rPr>
              <a:t>The literature survey has revealed a conspicuous research gap in the landscape of CKD management platforms, particularly within the Indian context. Despite the prevalence of CKD, there is a distinct absence of a comprehensive platform that consolidates all essential features in one accessible space. This identified gap represents an opportunity to create a pioneering solution that caters to the unique needs of CKD patients in India.</a:t>
            </a:r>
          </a:p>
          <a:p>
            <a:pPr algn="just">
              <a:spcAft>
                <a:spcPts val="505"/>
              </a:spcAft>
            </a:pPr>
            <a:r>
              <a:rPr lang="en-US" altLang="en-US" sz="1150" b="1" dirty="0">
                <a:latin typeface="Times New Roman" panose="02020603050405020304" pitchFamily="18" charset="0"/>
              </a:rPr>
              <a:t>Integrative Approach</a:t>
            </a:r>
          </a:p>
          <a:p>
            <a:pPr algn="just">
              <a:spcAft>
                <a:spcPts val="403"/>
              </a:spcAft>
            </a:pPr>
            <a:r>
              <a:rPr lang="en-US" altLang="en-US" sz="1150" dirty="0">
                <a:latin typeface="Times New Roman" panose="02020603050405020304" pitchFamily="18" charset="0"/>
              </a:rPr>
              <a:t>While existing resources provide valuable information, there is a lack of an integrative platform that combines information dissemination, proactive risk management, and community support. This platform aims to bridge this gap by offering a holistic approach to CKD care, empowering users with a multifaceted tool that goes beyond traditional healthcare models.</a:t>
            </a:r>
          </a:p>
          <a:p>
            <a:pPr algn="just"/>
            <a:r>
              <a:rPr lang="en-US" altLang="en-US" sz="1150" dirty="0">
                <a:latin typeface="Times New Roman" panose="02020603050405020304" pitchFamily="18" charset="0"/>
              </a:rPr>
              <a:t>The identified research gap serves as both a challenge and a motivating factor, propelling the project toward the creation of an all-encompassing CKD management platform that stands as a beacon of innovation in the field.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21A2613-E4C6-AB15-1707-F27B2B9E88D2}"/>
              </a:ext>
            </a:extLst>
          </p:cNvPr>
          <p:cNvSpPr txBox="1"/>
          <p:nvPr/>
        </p:nvSpPr>
        <p:spPr>
          <a:xfrm>
            <a:off x="898902" y="333214"/>
            <a:ext cx="7198962" cy="2849498"/>
          </a:xfrm>
          <a:prstGeom prst="rect">
            <a:avLst/>
          </a:prstGeom>
          <a:noFill/>
        </p:spPr>
        <p:txBody>
          <a:bodyPr wrap="square">
            <a:spAutoFit/>
          </a:bodyPr>
          <a:lstStyle/>
          <a:p>
            <a:pPr algn="just" eaLnBrk="1" hangingPunct="1">
              <a:spcBef>
                <a:spcPts val="2100"/>
              </a:spcBef>
              <a:spcAft>
                <a:spcPts val="1050"/>
              </a:spcAft>
            </a:pPr>
            <a:r>
              <a:rPr lang="en-US" altLang="en-US" sz="2000" b="1" dirty="0">
                <a:latin typeface="Times New Roman" panose="02020603050405020304" pitchFamily="18" charset="0"/>
              </a:rPr>
              <a:t>Conclusion</a:t>
            </a:r>
          </a:p>
          <a:p>
            <a:pPr algn="just" eaLnBrk="1" hangingPunct="1">
              <a:lnSpc>
                <a:spcPts val="1363"/>
              </a:lnSpc>
              <a:spcAft>
                <a:spcPts val="625"/>
              </a:spcAft>
            </a:pPr>
            <a:r>
              <a:rPr lang="en-US" altLang="en-US" sz="1400" dirty="0">
                <a:latin typeface="Times New Roman" panose="02020603050405020304" pitchFamily="18" charset="0"/>
              </a:rPr>
              <a:t>In conclusion, the development of the Early Onset Chronic Kidney Disease Prediction and Management Platform represents a significant stride towards addressing the critical challenges posed by CKD globally. The multifaceted approach, encompassing a literature survey on biomarkers, a machine learning framework, and an exploration of research gaps, underscores the comprehensive nature of this initiative.</a:t>
            </a:r>
          </a:p>
          <a:p>
            <a:pPr algn="just" eaLnBrk="1" hangingPunct="1">
              <a:lnSpc>
                <a:spcPts val="1363"/>
              </a:lnSpc>
              <a:spcAft>
                <a:spcPts val="625"/>
              </a:spcAft>
            </a:pPr>
            <a:r>
              <a:rPr lang="en-US" altLang="en-US" sz="1400" dirty="0">
                <a:latin typeface="Times New Roman" panose="02020603050405020304" pitchFamily="18" charset="0"/>
              </a:rPr>
              <a:t>The literature survey on biomarkers has not only identified key indicators for CKD but has also emphasized their importance in early detection and prognosis. By leveraging these biomarkers, the platform aims to enhance predictive models, providing users with personalized insights into their CKD risks and facilitating proactive management strategies.</a:t>
            </a:r>
          </a:p>
          <a:p>
            <a:pPr algn="just" eaLnBrk="1" hangingPunct="1">
              <a:lnSpc>
                <a:spcPts val="1363"/>
              </a:lnSpc>
            </a:pPr>
            <a:r>
              <a:rPr lang="en-US" altLang="en-US" sz="1400" dirty="0">
                <a:latin typeface="Times New Roman" panose="02020603050405020304" pitchFamily="18" charset="0"/>
              </a:rPr>
              <a:t>The exploration of machine-learning approaches further solidifies the technological foundation of the platform. By delving into existing databases from reputable sources such as </a:t>
            </a:r>
            <a:r>
              <a:rPr lang="en-US" altLang="en-US" sz="1400" u="sng" dirty="0">
                <a:latin typeface="Times New Roman" panose="02020603050405020304" pitchFamily="18" charset="0"/>
                <a:hlinkClick r:id="rId2"/>
              </a:rPr>
              <a:t>[</a:t>
            </a:r>
            <a:r>
              <a:rPr lang="en-US" altLang="en-US" sz="1400" u="sng" dirty="0">
                <a:solidFill>
                  <a:srgbClr val="0563C1"/>
                </a:solidFill>
                <a:latin typeface="Times New Roman" panose="02020603050405020304" pitchFamily="18" charset="0"/>
                <a:hlinkClick r:id="rId2"/>
              </a:rPr>
              <a:t>http://www.cdkd.org/</a:t>
            </a:r>
            <a:r>
              <a:rPr lang="en-US" altLang="en-US" sz="1400" u="sng" dirty="0">
                <a:latin typeface="Times New Roman" panose="02020603050405020304" pitchFamily="18" charset="0"/>
                <a:hlinkClick r:id="rId2"/>
              </a:rPr>
              <a:t>]</a:t>
            </a:r>
            <a:r>
              <a:rPr lang="en-US" altLang="en-US" sz="1400" dirty="0">
                <a:latin typeface="Times New Roman" panose="02020603050405020304" pitchFamily="18" charset="0"/>
              </a:rPr>
              <a:t>, the initiative strives for accuracy and inclusivity in its predictive</a:t>
            </a:r>
          </a:p>
        </p:txBody>
      </p:sp>
    </p:spTree>
    <p:extLst>
      <p:ext uri="{BB962C8B-B14F-4D97-AF65-F5344CB8AC3E}">
        <p14:creationId xmlns:p14="http://schemas.microsoft.com/office/powerpoint/2010/main" val="40435214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44"/>
          <p:cNvSpPr txBox="1">
            <a:spLocks noGrp="1"/>
          </p:cNvSpPr>
          <p:nvPr>
            <p:ph type="title" idx="4294967295"/>
          </p:nvPr>
        </p:nvSpPr>
        <p:spPr>
          <a:xfrm>
            <a:off x="2139520" y="484269"/>
            <a:ext cx="5948038" cy="2152179"/>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sz="5400" dirty="0"/>
              <a:t>THANK YOU!</a:t>
            </a:r>
            <a:endParaRPr sz="5400" dirty="0"/>
          </a:p>
        </p:txBody>
      </p:sp>
      <p:grpSp>
        <p:nvGrpSpPr>
          <p:cNvPr id="294" name="Google Shape;294;p44"/>
          <p:cNvGrpSpPr/>
          <p:nvPr/>
        </p:nvGrpSpPr>
        <p:grpSpPr>
          <a:xfrm>
            <a:off x="239725" y="639192"/>
            <a:ext cx="8114162" cy="4237130"/>
            <a:chOff x="239725" y="258566"/>
            <a:chExt cx="8596750" cy="4626634"/>
          </a:xfrm>
        </p:grpSpPr>
        <p:sp>
          <p:nvSpPr>
            <p:cNvPr id="295" name="Google Shape;295;p44"/>
            <p:cNvSpPr/>
            <p:nvPr/>
          </p:nvSpPr>
          <p:spPr>
            <a:xfrm rot="-5400000" flipH="1">
              <a:off x="1016725" y="-518434"/>
              <a:ext cx="1166400" cy="2720400"/>
            </a:xfrm>
            <a:prstGeom prst="round2DiagRect">
              <a:avLst>
                <a:gd name="adj1" fmla="val 50000"/>
                <a:gd name="adj2" fmla="val 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44"/>
            <p:cNvSpPr/>
            <p:nvPr/>
          </p:nvSpPr>
          <p:spPr>
            <a:xfrm>
              <a:off x="987375" y="1842725"/>
              <a:ext cx="1972800" cy="547800"/>
            </a:xfrm>
            <a:prstGeom prst="round2DiagRect">
              <a:avLst>
                <a:gd name="adj1" fmla="val 50000"/>
                <a:gd name="adj2" fmla="val 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44"/>
            <p:cNvSpPr/>
            <p:nvPr/>
          </p:nvSpPr>
          <p:spPr>
            <a:xfrm flipH="1">
              <a:off x="239725" y="2808300"/>
              <a:ext cx="1466100" cy="2076900"/>
            </a:xfrm>
            <a:prstGeom prst="round2DiagRect">
              <a:avLst>
                <a:gd name="adj1" fmla="val 50000"/>
                <a:gd name="adj2" fmla="val 0"/>
              </a:avLst>
            </a:prstGeom>
            <a:solidFill>
              <a:srgbClr val="92AE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44"/>
            <p:cNvSpPr/>
            <p:nvPr/>
          </p:nvSpPr>
          <p:spPr>
            <a:xfrm rot="-5400000">
              <a:off x="92725" y="1842750"/>
              <a:ext cx="841800" cy="547800"/>
            </a:xfrm>
            <a:prstGeom prst="round2DiagRect">
              <a:avLst>
                <a:gd name="adj1" fmla="val 50000"/>
                <a:gd name="adj2" fmla="val 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44"/>
            <p:cNvSpPr/>
            <p:nvPr/>
          </p:nvSpPr>
          <p:spPr>
            <a:xfrm rot="-5400000" flipH="1">
              <a:off x="6893075" y="2941791"/>
              <a:ext cx="1166400" cy="2720400"/>
            </a:xfrm>
            <a:prstGeom prst="round2DiagRect">
              <a:avLst>
                <a:gd name="adj1" fmla="val 50000"/>
                <a:gd name="adj2" fmla="val 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 name="Picture 1">
            <a:extLst>
              <a:ext uri="{FF2B5EF4-FFF2-40B4-BE49-F238E27FC236}">
                <a16:creationId xmlns:a16="http://schemas.microsoft.com/office/drawing/2014/main" id="{41B8B029-6630-FF1D-BCED-40186AC79E9E}"/>
              </a:ext>
            </a:extLst>
          </p:cNvPr>
          <p:cNvPicPr>
            <a:picLocks noChangeAspect="1"/>
          </p:cNvPicPr>
          <p:nvPr/>
        </p:nvPicPr>
        <p:blipFill>
          <a:blip r:embed="rId3"/>
          <a:stretch>
            <a:fillRect/>
          </a:stretch>
        </p:blipFill>
        <p:spPr>
          <a:xfrm>
            <a:off x="239724" y="130817"/>
            <a:ext cx="1445289" cy="353452"/>
          </a:xfrm>
          <a:prstGeom prst="rect">
            <a:avLst/>
          </a:prstGeom>
        </p:spPr>
      </p:pic>
    </p:spTree>
  </p:cSld>
  <p:clrMapOvr>
    <a:masterClrMapping/>
  </p:clrMapOvr>
</p:sld>
</file>

<file path=ppt/theme/theme1.xml><?xml version="1.0" encoding="utf-8"?>
<a:theme xmlns:a="http://schemas.openxmlformats.org/drawingml/2006/main" name="Economy Major for College: Financial Management by Slidesgo">
  <a:themeElements>
    <a:clrScheme name="Simple Light">
      <a:dk1>
        <a:srgbClr val="233347"/>
      </a:dk1>
      <a:lt1>
        <a:srgbClr val="92AECE"/>
      </a:lt1>
      <a:dk2>
        <a:srgbClr val="F4F9FF"/>
      </a:dk2>
      <a:lt2>
        <a:srgbClr val="657F9E"/>
      </a:lt2>
      <a:accent1>
        <a:srgbClr val="C38080"/>
      </a:accent1>
      <a:accent2>
        <a:srgbClr val="E7ACAC"/>
      </a:accent2>
      <a:accent3>
        <a:srgbClr val="FFFFFF"/>
      </a:accent3>
      <a:accent4>
        <a:srgbClr val="FFFFFF"/>
      </a:accent4>
      <a:accent5>
        <a:srgbClr val="FFFFFF"/>
      </a:accent5>
      <a:accent6>
        <a:srgbClr val="FFFFFF"/>
      </a:accent6>
      <a:hlink>
        <a:srgbClr val="23334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413</TotalTime>
  <Words>974</Words>
  <Application>Microsoft Office PowerPoint</Application>
  <PresentationFormat>On-screen Show (16:9)</PresentationFormat>
  <Paragraphs>98</Paragraphs>
  <Slides>7</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Wingdings</vt:lpstr>
      <vt:lpstr>Times New Roman</vt:lpstr>
      <vt:lpstr>Gothic A1 Medium</vt:lpstr>
      <vt:lpstr>Alata</vt:lpstr>
      <vt:lpstr>Arial</vt:lpstr>
      <vt:lpstr>Gothic A1</vt:lpstr>
      <vt:lpstr>Economy Major for College: Financial Management by Slidesgo</vt:lpstr>
      <vt:lpstr>DTI-1 PRESENTATION  </vt:lpstr>
      <vt:lpstr>DETAILS OF THE TEAM AND PROBLEM STATEMENT</vt:lpstr>
      <vt:lpstr>IDEA/LITERATURE DETAILS</vt:lpstr>
      <vt:lpstr>APPROACH/TECH STACK/FLOWCHART</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DTI-1 PRESENTATION</dc:title>
  <dc:creator>NAZARA PARWEEN</dc:creator>
  <cp:lastModifiedBy>Sumi Tiwari</cp:lastModifiedBy>
  <cp:revision>8</cp:revision>
  <dcterms:modified xsi:type="dcterms:W3CDTF">2023-12-02T04:47:56Z</dcterms:modified>
</cp:coreProperties>
</file>